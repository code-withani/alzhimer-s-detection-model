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053" autoAdjust="0"/>
  </p:normalViewPr>
  <p:slideViewPr>
    <p:cSldViewPr snapToGrid="0" showGuides="1">
      <p:cViewPr varScale="1">
        <p:scale>
          <a:sx n="83" d="100"/>
          <a:sy n="83" d="100"/>
        </p:scale>
        <p:origin x="686"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9D403-84D2-415A-A974-68995CE7A085}" type="datetimeFigureOut">
              <a:rPr lang="en-IN" smtClean="0"/>
              <a:t>14-11-2025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2A31EF-8F1F-443F-B0F6-0457915132CD}" type="slidenum">
              <a:rPr lang="en-IN" smtClean="0"/>
              <a:t>‹#›</a:t>
            </a:fld>
            <a:endParaRPr lang="en-IN"/>
          </a:p>
        </p:txBody>
      </p:sp>
    </p:spTree>
    <p:extLst>
      <p:ext uri="{BB962C8B-B14F-4D97-AF65-F5344CB8AC3E}">
        <p14:creationId xmlns:p14="http://schemas.microsoft.com/office/powerpoint/2010/main" val="1874779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5303D-0BFA-41E7-A63D-CF27C17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C984BE7-DD05-4700-95DA-D234F594B3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874AF75-1795-434A-9E06-E79939E234C7}"/>
              </a:ext>
            </a:extLst>
          </p:cNvPr>
          <p:cNvSpPr>
            <a:spLocks noGrp="1"/>
          </p:cNvSpPr>
          <p:nvPr>
            <p:ph type="dt" sz="half" idx="10"/>
          </p:nvPr>
        </p:nvSpPr>
        <p:spPr/>
        <p:txBody>
          <a:bodyPr/>
          <a:lstStyle/>
          <a:p>
            <a:fld id="{F3F05E68-EBCC-4251-96AD-52D610BD67F4}" type="datetime1">
              <a:rPr lang="en-IN" smtClean="0"/>
              <a:t>14-11-2025</a:t>
            </a:fld>
            <a:endParaRPr lang="en-IN"/>
          </a:p>
        </p:txBody>
      </p:sp>
      <p:sp>
        <p:nvSpPr>
          <p:cNvPr id="5" name="Footer Placeholder 4">
            <a:extLst>
              <a:ext uri="{FF2B5EF4-FFF2-40B4-BE49-F238E27FC236}">
                <a16:creationId xmlns:a16="http://schemas.microsoft.com/office/drawing/2014/main" id="{374C657E-F841-49FD-866F-739B737693BF}"/>
              </a:ext>
            </a:extLst>
          </p:cNvPr>
          <p:cNvSpPr>
            <a:spLocks noGrp="1"/>
          </p:cNvSpPr>
          <p:nvPr>
            <p:ph type="ftr" sz="quarter" idx="11"/>
          </p:nvPr>
        </p:nvSpPr>
        <p:spPr/>
        <p:txBody>
          <a:bodyPr/>
          <a:lstStyle/>
          <a:p>
            <a:r>
              <a:rPr lang="en-US"/>
              <a:t>Dept. of Electronics and Telecommunication Hope Foundation’s International Institute of Information Technology Hinjawadi Pune</a:t>
            </a:r>
            <a:endParaRPr lang="en-IN"/>
          </a:p>
        </p:txBody>
      </p:sp>
      <p:sp>
        <p:nvSpPr>
          <p:cNvPr id="6" name="Slide Number Placeholder 5">
            <a:extLst>
              <a:ext uri="{FF2B5EF4-FFF2-40B4-BE49-F238E27FC236}">
                <a16:creationId xmlns:a16="http://schemas.microsoft.com/office/drawing/2014/main" id="{595A6586-4067-447D-9161-6563DCE6155C}"/>
              </a:ext>
            </a:extLst>
          </p:cNvPr>
          <p:cNvSpPr>
            <a:spLocks noGrp="1"/>
          </p:cNvSpPr>
          <p:nvPr>
            <p:ph type="sldNum" sz="quarter" idx="12"/>
          </p:nvPr>
        </p:nvSpPr>
        <p:spPr/>
        <p:txBody>
          <a:bodyPr/>
          <a:lstStyle/>
          <a:p>
            <a:fld id="{1C31DEBF-AE20-4689-ADFF-879AF853B401}" type="slidenum">
              <a:rPr lang="en-IN" smtClean="0"/>
              <a:t>‹#›</a:t>
            </a:fld>
            <a:endParaRPr lang="en-IN"/>
          </a:p>
        </p:txBody>
      </p:sp>
    </p:spTree>
    <p:extLst>
      <p:ext uri="{BB962C8B-B14F-4D97-AF65-F5344CB8AC3E}">
        <p14:creationId xmlns:p14="http://schemas.microsoft.com/office/powerpoint/2010/main" val="1291285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9226A-7A50-4329-9FBA-EBBAC54146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FFC9FE-4797-42B9-BDB6-00A78B36FA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1A37D0-22EE-4B97-BD92-84D4A4662BDE}"/>
              </a:ext>
            </a:extLst>
          </p:cNvPr>
          <p:cNvSpPr>
            <a:spLocks noGrp="1"/>
          </p:cNvSpPr>
          <p:nvPr>
            <p:ph type="dt" sz="half" idx="10"/>
          </p:nvPr>
        </p:nvSpPr>
        <p:spPr/>
        <p:txBody>
          <a:bodyPr/>
          <a:lstStyle/>
          <a:p>
            <a:fld id="{5EB3A2AE-AD4E-49BE-A712-BF3BE8DD0420}" type="datetime1">
              <a:rPr lang="en-IN" smtClean="0"/>
              <a:t>14-11-2025</a:t>
            </a:fld>
            <a:endParaRPr lang="en-IN"/>
          </a:p>
        </p:txBody>
      </p:sp>
      <p:sp>
        <p:nvSpPr>
          <p:cNvPr id="5" name="Footer Placeholder 4">
            <a:extLst>
              <a:ext uri="{FF2B5EF4-FFF2-40B4-BE49-F238E27FC236}">
                <a16:creationId xmlns:a16="http://schemas.microsoft.com/office/drawing/2014/main" id="{F57341B7-3BE0-4577-B14A-852FC6178B2B}"/>
              </a:ext>
            </a:extLst>
          </p:cNvPr>
          <p:cNvSpPr>
            <a:spLocks noGrp="1"/>
          </p:cNvSpPr>
          <p:nvPr>
            <p:ph type="ftr" sz="quarter" idx="11"/>
          </p:nvPr>
        </p:nvSpPr>
        <p:spPr/>
        <p:txBody>
          <a:bodyPr/>
          <a:lstStyle/>
          <a:p>
            <a:r>
              <a:rPr lang="en-US"/>
              <a:t>Dept. of Electronics and Telecommunication Hope Foundation’s International Institute of Information Technology Hinjawadi Pune</a:t>
            </a:r>
            <a:endParaRPr lang="en-IN"/>
          </a:p>
        </p:txBody>
      </p:sp>
      <p:sp>
        <p:nvSpPr>
          <p:cNvPr id="6" name="Slide Number Placeholder 5">
            <a:extLst>
              <a:ext uri="{FF2B5EF4-FFF2-40B4-BE49-F238E27FC236}">
                <a16:creationId xmlns:a16="http://schemas.microsoft.com/office/drawing/2014/main" id="{C4AE3363-928E-4E74-976D-7D02D205E81F}"/>
              </a:ext>
            </a:extLst>
          </p:cNvPr>
          <p:cNvSpPr>
            <a:spLocks noGrp="1"/>
          </p:cNvSpPr>
          <p:nvPr>
            <p:ph type="sldNum" sz="quarter" idx="12"/>
          </p:nvPr>
        </p:nvSpPr>
        <p:spPr/>
        <p:txBody>
          <a:bodyPr/>
          <a:lstStyle/>
          <a:p>
            <a:fld id="{1C31DEBF-AE20-4689-ADFF-879AF853B401}" type="slidenum">
              <a:rPr lang="en-IN" smtClean="0"/>
              <a:t>‹#›</a:t>
            </a:fld>
            <a:endParaRPr lang="en-IN"/>
          </a:p>
        </p:txBody>
      </p:sp>
    </p:spTree>
    <p:extLst>
      <p:ext uri="{BB962C8B-B14F-4D97-AF65-F5344CB8AC3E}">
        <p14:creationId xmlns:p14="http://schemas.microsoft.com/office/powerpoint/2010/main" val="1151967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07E9D-A00B-46F7-92B2-5D62E33152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AFA22BD-5C31-4041-B53B-8F04A11F18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072BF8-4C7A-42E7-9617-32505CBB2DB1}"/>
              </a:ext>
            </a:extLst>
          </p:cNvPr>
          <p:cNvSpPr>
            <a:spLocks noGrp="1"/>
          </p:cNvSpPr>
          <p:nvPr>
            <p:ph type="dt" sz="half" idx="10"/>
          </p:nvPr>
        </p:nvSpPr>
        <p:spPr/>
        <p:txBody>
          <a:bodyPr/>
          <a:lstStyle/>
          <a:p>
            <a:fld id="{31883B75-4E56-40F6-93C4-CE0D58FE1341}" type="datetime1">
              <a:rPr lang="en-IN" smtClean="0"/>
              <a:t>14-11-2025</a:t>
            </a:fld>
            <a:endParaRPr lang="en-IN"/>
          </a:p>
        </p:txBody>
      </p:sp>
      <p:sp>
        <p:nvSpPr>
          <p:cNvPr id="5" name="Footer Placeholder 4">
            <a:extLst>
              <a:ext uri="{FF2B5EF4-FFF2-40B4-BE49-F238E27FC236}">
                <a16:creationId xmlns:a16="http://schemas.microsoft.com/office/drawing/2014/main" id="{F2F1380B-FE14-4BFE-9624-40655682F9D5}"/>
              </a:ext>
            </a:extLst>
          </p:cNvPr>
          <p:cNvSpPr>
            <a:spLocks noGrp="1"/>
          </p:cNvSpPr>
          <p:nvPr>
            <p:ph type="ftr" sz="quarter" idx="11"/>
          </p:nvPr>
        </p:nvSpPr>
        <p:spPr/>
        <p:txBody>
          <a:bodyPr/>
          <a:lstStyle/>
          <a:p>
            <a:r>
              <a:rPr lang="en-US"/>
              <a:t>Dept. of Electronics and Telecommunication Hope Foundation’s International Institute of Information Technology Hinjawadi Pune</a:t>
            </a:r>
            <a:endParaRPr lang="en-IN"/>
          </a:p>
        </p:txBody>
      </p:sp>
      <p:sp>
        <p:nvSpPr>
          <p:cNvPr id="6" name="Slide Number Placeholder 5">
            <a:extLst>
              <a:ext uri="{FF2B5EF4-FFF2-40B4-BE49-F238E27FC236}">
                <a16:creationId xmlns:a16="http://schemas.microsoft.com/office/drawing/2014/main" id="{EB335194-CF63-416F-864C-F95B3EC527C3}"/>
              </a:ext>
            </a:extLst>
          </p:cNvPr>
          <p:cNvSpPr>
            <a:spLocks noGrp="1"/>
          </p:cNvSpPr>
          <p:nvPr>
            <p:ph type="sldNum" sz="quarter" idx="12"/>
          </p:nvPr>
        </p:nvSpPr>
        <p:spPr/>
        <p:txBody>
          <a:bodyPr/>
          <a:lstStyle/>
          <a:p>
            <a:fld id="{1C31DEBF-AE20-4689-ADFF-879AF853B401}" type="slidenum">
              <a:rPr lang="en-IN" smtClean="0"/>
              <a:t>‹#›</a:t>
            </a:fld>
            <a:endParaRPr lang="en-IN"/>
          </a:p>
        </p:txBody>
      </p:sp>
    </p:spTree>
    <p:extLst>
      <p:ext uri="{BB962C8B-B14F-4D97-AF65-F5344CB8AC3E}">
        <p14:creationId xmlns:p14="http://schemas.microsoft.com/office/powerpoint/2010/main" val="4115827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A1D3B-30C4-48D8-AEE4-4270F0685C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6ECCC5-A895-44B1-BB36-670261B1F3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5B62E8-3F4D-420E-849F-0B5353ADEE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5113D5-A3B1-45FB-A98C-58AC36EB9E49}"/>
              </a:ext>
            </a:extLst>
          </p:cNvPr>
          <p:cNvSpPr>
            <a:spLocks noGrp="1"/>
          </p:cNvSpPr>
          <p:nvPr>
            <p:ph type="dt" sz="half" idx="10"/>
          </p:nvPr>
        </p:nvSpPr>
        <p:spPr/>
        <p:txBody>
          <a:bodyPr/>
          <a:lstStyle/>
          <a:p>
            <a:fld id="{118FFC32-840D-41A9-9777-2C75B3B1771F}" type="datetime1">
              <a:rPr lang="en-IN" smtClean="0"/>
              <a:t>14-11-2025</a:t>
            </a:fld>
            <a:endParaRPr lang="en-IN"/>
          </a:p>
        </p:txBody>
      </p:sp>
      <p:sp>
        <p:nvSpPr>
          <p:cNvPr id="6" name="Footer Placeholder 5">
            <a:extLst>
              <a:ext uri="{FF2B5EF4-FFF2-40B4-BE49-F238E27FC236}">
                <a16:creationId xmlns:a16="http://schemas.microsoft.com/office/drawing/2014/main" id="{D8FDB208-036C-4938-8EBE-0A2B7DD0C3F9}"/>
              </a:ext>
            </a:extLst>
          </p:cNvPr>
          <p:cNvSpPr>
            <a:spLocks noGrp="1"/>
          </p:cNvSpPr>
          <p:nvPr>
            <p:ph type="ftr" sz="quarter" idx="11"/>
          </p:nvPr>
        </p:nvSpPr>
        <p:spPr/>
        <p:txBody>
          <a:bodyPr/>
          <a:lstStyle/>
          <a:p>
            <a:r>
              <a:rPr lang="en-US"/>
              <a:t>Dept. of Electronics and Telecommunication Hope Foundation’s International Institute of Information Technology Hinjawadi Pune</a:t>
            </a:r>
            <a:endParaRPr lang="en-IN"/>
          </a:p>
        </p:txBody>
      </p:sp>
      <p:sp>
        <p:nvSpPr>
          <p:cNvPr id="7" name="Slide Number Placeholder 6">
            <a:extLst>
              <a:ext uri="{FF2B5EF4-FFF2-40B4-BE49-F238E27FC236}">
                <a16:creationId xmlns:a16="http://schemas.microsoft.com/office/drawing/2014/main" id="{8F745C5D-1475-409E-8EBE-F6B64A4C2662}"/>
              </a:ext>
            </a:extLst>
          </p:cNvPr>
          <p:cNvSpPr>
            <a:spLocks noGrp="1"/>
          </p:cNvSpPr>
          <p:nvPr>
            <p:ph type="sldNum" sz="quarter" idx="12"/>
          </p:nvPr>
        </p:nvSpPr>
        <p:spPr/>
        <p:txBody>
          <a:bodyPr/>
          <a:lstStyle/>
          <a:p>
            <a:fld id="{1C31DEBF-AE20-4689-ADFF-879AF853B401}" type="slidenum">
              <a:rPr lang="en-IN" smtClean="0"/>
              <a:t>‹#›</a:t>
            </a:fld>
            <a:endParaRPr lang="en-IN"/>
          </a:p>
        </p:txBody>
      </p:sp>
    </p:spTree>
    <p:extLst>
      <p:ext uri="{BB962C8B-B14F-4D97-AF65-F5344CB8AC3E}">
        <p14:creationId xmlns:p14="http://schemas.microsoft.com/office/powerpoint/2010/main" val="2642096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65952-CE08-4A6C-A4DB-76DF14B63F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4C69EE-6A4F-4FA1-9A94-939642A26A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3BA5FC-7FF1-46E6-B8B9-46DB6271C9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EEA041-3AF7-4854-918E-81CC242625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973935-2426-46BB-917A-33E45CF77D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A8A16E-38F8-4E14-BAA6-D194F3EEC534}"/>
              </a:ext>
            </a:extLst>
          </p:cNvPr>
          <p:cNvSpPr>
            <a:spLocks noGrp="1"/>
          </p:cNvSpPr>
          <p:nvPr>
            <p:ph type="dt" sz="half" idx="10"/>
          </p:nvPr>
        </p:nvSpPr>
        <p:spPr/>
        <p:txBody>
          <a:bodyPr/>
          <a:lstStyle/>
          <a:p>
            <a:fld id="{626A7C9B-1AF2-4C36-BDBA-9F623EBD8B38}" type="datetime1">
              <a:rPr lang="en-IN" smtClean="0"/>
              <a:t>14-11-2025</a:t>
            </a:fld>
            <a:endParaRPr lang="en-IN"/>
          </a:p>
        </p:txBody>
      </p:sp>
      <p:sp>
        <p:nvSpPr>
          <p:cNvPr id="8" name="Footer Placeholder 7">
            <a:extLst>
              <a:ext uri="{FF2B5EF4-FFF2-40B4-BE49-F238E27FC236}">
                <a16:creationId xmlns:a16="http://schemas.microsoft.com/office/drawing/2014/main" id="{F5995F15-C23B-4CC6-B4C1-3D52602C968C}"/>
              </a:ext>
            </a:extLst>
          </p:cNvPr>
          <p:cNvSpPr>
            <a:spLocks noGrp="1"/>
          </p:cNvSpPr>
          <p:nvPr>
            <p:ph type="ftr" sz="quarter" idx="11"/>
          </p:nvPr>
        </p:nvSpPr>
        <p:spPr/>
        <p:txBody>
          <a:bodyPr/>
          <a:lstStyle/>
          <a:p>
            <a:r>
              <a:rPr lang="en-US"/>
              <a:t>Dept. of Electronics and Telecommunication Hope Foundation’s International Institute of Information Technology Hinjawadi Pune</a:t>
            </a:r>
            <a:endParaRPr lang="en-IN"/>
          </a:p>
        </p:txBody>
      </p:sp>
      <p:sp>
        <p:nvSpPr>
          <p:cNvPr id="9" name="Slide Number Placeholder 8">
            <a:extLst>
              <a:ext uri="{FF2B5EF4-FFF2-40B4-BE49-F238E27FC236}">
                <a16:creationId xmlns:a16="http://schemas.microsoft.com/office/drawing/2014/main" id="{A64FDA81-BC3E-45CF-8C5C-2D40463E340D}"/>
              </a:ext>
            </a:extLst>
          </p:cNvPr>
          <p:cNvSpPr>
            <a:spLocks noGrp="1"/>
          </p:cNvSpPr>
          <p:nvPr>
            <p:ph type="sldNum" sz="quarter" idx="12"/>
          </p:nvPr>
        </p:nvSpPr>
        <p:spPr/>
        <p:txBody>
          <a:bodyPr/>
          <a:lstStyle/>
          <a:p>
            <a:fld id="{1C31DEBF-AE20-4689-ADFF-879AF853B401}" type="slidenum">
              <a:rPr lang="en-IN" smtClean="0"/>
              <a:t>‹#›</a:t>
            </a:fld>
            <a:endParaRPr lang="en-IN"/>
          </a:p>
        </p:txBody>
      </p:sp>
    </p:spTree>
    <p:extLst>
      <p:ext uri="{BB962C8B-B14F-4D97-AF65-F5344CB8AC3E}">
        <p14:creationId xmlns:p14="http://schemas.microsoft.com/office/powerpoint/2010/main" val="2067740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CABF3-BEA6-4467-B896-5D5B8C941B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1A8F0E0-D649-4A07-A610-CDC2F91682D6}"/>
              </a:ext>
            </a:extLst>
          </p:cNvPr>
          <p:cNvSpPr>
            <a:spLocks noGrp="1"/>
          </p:cNvSpPr>
          <p:nvPr>
            <p:ph type="dt" sz="half" idx="10"/>
          </p:nvPr>
        </p:nvSpPr>
        <p:spPr/>
        <p:txBody>
          <a:bodyPr/>
          <a:lstStyle/>
          <a:p>
            <a:fld id="{9409BFB1-C8A4-425C-8E07-DE1D2732D1FD}" type="datetime1">
              <a:rPr lang="en-IN" smtClean="0"/>
              <a:t>14-11-2025</a:t>
            </a:fld>
            <a:endParaRPr lang="en-IN"/>
          </a:p>
        </p:txBody>
      </p:sp>
      <p:sp>
        <p:nvSpPr>
          <p:cNvPr id="4" name="Footer Placeholder 3">
            <a:extLst>
              <a:ext uri="{FF2B5EF4-FFF2-40B4-BE49-F238E27FC236}">
                <a16:creationId xmlns:a16="http://schemas.microsoft.com/office/drawing/2014/main" id="{0FFCAE14-E47A-4496-9316-ABD84B909FF3}"/>
              </a:ext>
            </a:extLst>
          </p:cNvPr>
          <p:cNvSpPr>
            <a:spLocks noGrp="1"/>
          </p:cNvSpPr>
          <p:nvPr>
            <p:ph type="ftr" sz="quarter" idx="11"/>
          </p:nvPr>
        </p:nvSpPr>
        <p:spPr/>
        <p:txBody>
          <a:bodyPr/>
          <a:lstStyle/>
          <a:p>
            <a:r>
              <a:rPr lang="en-US"/>
              <a:t>Dept. of Electronics and Telecommunication Hope Foundation’s International Institute of Information Technology Hinjawadi Pune</a:t>
            </a:r>
            <a:endParaRPr lang="en-IN"/>
          </a:p>
        </p:txBody>
      </p:sp>
      <p:sp>
        <p:nvSpPr>
          <p:cNvPr id="5" name="Slide Number Placeholder 4">
            <a:extLst>
              <a:ext uri="{FF2B5EF4-FFF2-40B4-BE49-F238E27FC236}">
                <a16:creationId xmlns:a16="http://schemas.microsoft.com/office/drawing/2014/main" id="{1CA802DB-B47F-47E2-845F-5C4CDFB09F56}"/>
              </a:ext>
            </a:extLst>
          </p:cNvPr>
          <p:cNvSpPr>
            <a:spLocks noGrp="1"/>
          </p:cNvSpPr>
          <p:nvPr>
            <p:ph type="sldNum" sz="quarter" idx="12"/>
          </p:nvPr>
        </p:nvSpPr>
        <p:spPr/>
        <p:txBody>
          <a:bodyPr/>
          <a:lstStyle/>
          <a:p>
            <a:fld id="{1C31DEBF-AE20-4689-ADFF-879AF853B401}" type="slidenum">
              <a:rPr lang="en-IN" smtClean="0"/>
              <a:t>‹#›</a:t>
            </a:fld>
            <a:endParaRPr lang="en-IN"/>
          </a:p>
        </p:txBody>
      </p:sp>
    </p:spTree>
    <p:extLst>
      <p:ext uri="{BB962C8B-B14F-4D97-AF65-F5344CB8AC3E}">
        <p14:creationId xmlns:p14="http://schemas.microsoft.com/office/powerpoint/2010/main" val="985271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F7334D-E9DE-4775-B548-FD8E3B947983}"/>
              </a:ext>
            </a:extLst>
          </p:cNvPr>
          <p:cNvSpPr>
            <a:spLocks noGrp="1"/>
          </p:cNvSpPr>
          <p:nvPr>
            <p:ph type="dt" sz="half" idx="10"/>
          </p:nvPr>
        </p:nvSpPr>
        <p:spPr/>
        <p:txBody>
          <a:bodyPr/>
          <a:lstStyle/>
          <a:p>
            <a:fld id="{5BD35558-9A12-400F-BA1E-CB5C51110D38}" type="datetime1">
              <a:rPr lang="en-IN" smtClean="0"/>
              <a:t>14-11-2025</a:t>
            </a:fld>
            <a:endParaRPr lang="en-IN"/>
          </a:p>
        </p:txBody>
      </p:sp>
      <p:sp>
        <p:nvSpPr>
          <p:cNvPr id="3" name="Footer Placeholder 2">
            <a:extLst>
              <a:ext uri="{FF2B5EF4-FFF2-40B4-BE49-F238E27FC236}">
                <a16:creationId xmlns:a16="http://schemas.microsoft.com/office/drawing/2014/main" id="{FBF2A66E-AEE3-4811-8772-5F1F838E766B}"/>
              </a:ext>
            </a:extLst>
          </p:cNvPr>
          <p:cNvSpPr>
            <a:spLocks noGrp="1"/>
          </p:cNvSpPr>
          <p:nvPr>
            <p:ph type="ftr" sz="quarter" idx="11"/>
          </p:nvPr>
        </p:nvSpPr>
        <p:spPr/>
        <p:txBody>
          <a:bodyPr/>
          <a:lstStyle/>
          <a:p>
            <a:r>
              <a:rPr lang="en-US"/>
              <a:t>Dept. of Electronics and Telecommunication Hope Foundation’s International Institute of Information Technology Hinjawadi Pune</a:t>
            </a:r>
            <a:endParaRPr lang="en-IN"/>
          </a:p>
        </p:txBody>
      </p:sp>
      <p:sp>
        <p:nvSpPr>
          <p:cNvPr id="4" name="Slide Number Placeholder 3">
            <a:extLst>
              <a:ext uri="{FF2B5EF4-FFF2-40B4-BE49-F238E27FC236}">
                <a16:creationId xmlns:a16="http://schemas.microsoft.com/office/drawing/2014/main" id="{B2FC00B0-1EEF-4238-8B8E-409452DD57A7}"/>
              </a:ext>
            </a:extLst>
          </p:cNvPr>
          <p:cNvSpPr>
            <a:spLocks noGrp="1"/>
          </p:cNvSpPr>
          <p:nvPr>
            <p:ph type="sldNum" sz="quarter" idx="12"/>
          </p:nvPr>
        </p:nvSpPr>
        <p:spPr/>
        <p:txBody>
          <a:bodyPr/>
          <a:lstStyle/>
          <a:p>
            <a:fld id="{1C31DEBF-AE20-4689-ADFF-879AF853B401}" type="slidenum">
              <a:rPr lang="en-IN" smtClean="0"/>
              <a:t>‹#›</a:t>
            </a:fld>
            <a:endParaRPr lang="en-IN"/>
          </a:p>
        </p:txBody>
      </p:sp>
    </p:spTree>
    <p:extLst>
      <p:ext uri="{BB962C8B-B14F-4D97-AF65-F5344CB8AC3E}">
        <p14:creationId xmlns:p14="http://schemas.microsoft.com/office/powerpoint/2010/main" val="3634386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AFE41-8294-45D4-BC27-EAFB803417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E5D51A3-BDE7-466E-A9DC-A32D24058B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C82B9C9-A1C7-477B-8E9F-4F53A374C3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B1F6E1-C836-4F94-B7FC-BD562204644A}"/>
              </a:ext>
            </a:extLst>
          </p:cNvPr>
          <p:cNvSpPr>
            <a:spLocks noGrp="1"/>
          </p:cNvSpPr>
          <p:nvPr>
            <p:ph type="dt" sz="half" idx="10"/>
          </p:nvPr>
        </p:nvSpPr>
        <p:spPr/>
        <p:txBody>
          <a:bodyPr/>
          <a:lstStyle/>
          <a:p>
            <a:fld id="{0DA21AF8-6944-45B1-B107-2F6B493ECC75}" type="datetime1">
              <a:rPr lang="en-IN" smtClean="0"/>
              <a:t>14-11-2025</a:t>
            </a:fld>
            <a:endParaRPr lang="en-IN"/>
          </a:p>
        </p:txBody>
      </p:sp>
      <p:sp>
        <p:nvSpPr>
          <p:cNvPr id="6" name="Footer Placeholder 5">
            <a:extLst>
              <a:ext uri="{FF2B5EF4-FFF2-40B4-BE49-F238E27FC236}">
                <a16:creationId xmlns:a16="http://schemas.microsoft.com/office/drawing/2014/main" id="{FAEB35D5-452E-40FE-A0FD-4ADF458540D3}"/>
              </a:ext>
            </a:extLst>
          </p:cNvPr>
          <p:cNvSpPr>
            <a:spLocks noGrp="1"/>
          </p:cNvSpPr>
          <p:nvPr>
            <p:ph type="ftr" sz="quarter" idx="11"/>
          </p:nvPr>
        </p:nvSpPr>
        <p:spPr/>
        <p:txBody>
          <a:bodyPr/>
          <a:lstStyle/>
          <a:p>
            <a:r>
              <a:rPr lang="en-US"/>
              <a:t>Dept. of Electronics and Telecommunication Hope Foundation’s International Institute of Information Technology Hinjawadi Pune</a:t>
            </a:r>
            <a:endParaRPr lang="en-IN"/>
          </a:p>
        </p:txBody>
      </p:sp>
      <p:sp>
        <p:nvSpPr>
          <p:cNvPr id="7" name="Slide Number Placeholder 6">
            <a:extLst>
              <a:ext uri="{FF2B5EF4-FFF2-40B4-BE49-F238E27FC236}">
                <a16:creationId xmlns:a16="http://schemas.microsoft.com/office/drawing/2014/main" id="{5657B1B6-A2AF-4DC2-9C31-9A67352FF4CC}"/>
              </a:ext>
            </a:extLst>
          </p:cNvPr>
          <p:cNvSpPr>
            <a:spLocks noGrp="1"/>
          </p:cNvSpPr>
          <p:nvPr>
            <p:ph type="sldNum" sz="quarter" idx="12"/>
          </p:nvPr>
        </p:nvSpPr>
        <p:spPr/>
        <p:txBody>
          <a:bodyPr/>
          <a:lstStyle/>
          <a:p>
            <a:fld id="{1C31DEBF-AE20-4689-ADFF-879AF853B401}" type="slidenum">
              <a:rPr lang="en-IN" smtClean="0"/>
              <a:t>‹#›</a:t>
            </a:fld>
            <a:endParaRPr lang="en-IN"/>
          </a:p>
        </p:txBody>
      </p:sp>
    </p:spTree>
    <p:extLst>
      <p:ext uri="{BB962C8B-B14F-4D97-AF65-F5344CB8AC3E}">
        <p14:creationId xmlns:p14="http://schemas.microsoft.com/office/powerpoint/2010/main" val="2574934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35A0A-1F8C-4C33-A1A7-A4F4DC723C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F26994B-2806-4CCF-B5DC-099AE0CED3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49FBC3-1930-4622-A7BB-A3A8DBB833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7F47FB-97A7-41B5-A75E-D3E3AEF09BD4}"/>
              </a:ext>
            </a:extLst>
          </p:cNvPr>
          <p:cNvSpPr>
            <a:spLocks noGrp="1"/>
          </p:cNvSpPr>
          <p:nvPr>
            <p:ph type="dt" sz="half" idx="10"/>
          </p:nvPr>
        </p:nvSpPr>
        <p:spPr/>
        <p:txBody>
          <a:bodyPr/>
          <a:lstStyle/>
          <a:p>
            <a:fld id="{DFA85089-AC0E-4CE9-960F-940967676383}" type="datetime1">
              <a:rPr lang="en-IN" smtClean="0"/>
              <a:t>14-11-2025</a:t>
            </a:fld>
            <a:endParaRPr lang="en-IN"/>
          </a:p>
        </p:txBody>
      </p:sp>
      <p:sp>
        <p:nvSpPr>
          <p:cNvPr id="6" name="Footer Placeholder 5">
            <a:extLst>
              <a:ext uri="{FF2B5EF4-FFF2-40B4-BE49-F238E27FC236}">
                <a16:creationId xmlns:a16="http://schemas.microsoft.com/office/drawing/2014/main" id="{54F41F73-84EF-4EAF-835D-F956565CA489}"/>
              </a:ext>
            </a:extLst>
          </p:cNvPr>
          <p:cNvSpPr>
            <a:spLocks noGrp="1"/>
          </p:cNvSpPr>
          <p:nvPr>
            <p:ph type="ftr" sz="quarter" idx="11"/>
          </p:nvPr>
        </p:nvSpPr>
        <p:spPr/>
        <p:txBody>
          <a:bodyPr/>
          <a:lstStyle/>
          <a:p>
            <a:r>
              <a:rPr lang="en-US"/>
              <a:t>Dept. of Electronics and Telecommunication Hope Foundation’s International Institute of Information Technology Hinjawadi Pune</a:t>
            </a:r>
            <a:endParaRPr lang="en-IN"/>
          </a:p>
        </p:txBody>
      </p:sp>
      <p:sp>
        <p:nvSpPr>
          <p:cNvPr id="7" name="Slide Number Placeholder 6">
            <a:extLst>
              <a:ext uri="{FF2B5EF4-FFF2-40B4-BE49-F238E27FC236}">
                <a16:creationId xmlns:a16="http://schemas.microsoft.com/office/drawing/2014/main" id="{63BEEA88-0C4F-441C-9FD5-628DA98023D8}"/>
              </a:ext>
            </a:extLst>
          </p:cNvPr>
          <p:cNvSpPr>
            <a:spLocks noGrp="1"/>
          </p:cNvSpPr>
          <p:nvPr>
            <p:ph type="sldNum" sz="quarter" idx="12"/>
          </p:nvPr>
        </p:nvSpPr>
        <p:spPr/>
        <p:txBody>
          <a:bodyPr/>
          <a:lstStyle/>
          <a:p>
            <a:fld id="{1C31DEBF-AE20-4689-ADFF-879AF853B401}" type="slidenum">
              <a:rPr lang="en-IN" smtClean="0"/>
              <a:t>‹#›</a:t>
            </a:fld>
            <a:endParaRPr lang="en-IN"/>
          </a:p>
        </p:txBody>
      </p:sp>
    </p:spTree>
    <p:extLst>
      <p:ext uri="{BB962C8B-B14F-4D97-AF65-F5344CB8AC3E}">
        <p14:creationId xmlns:p14="http://schemas.microsoft.com/office/powerpoint/2010/main" val="2006293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E2863-949E-4D77-AD06-DE7C57727DA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437C56-16A9-4E5B-8539-6EB00F9252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F3F927-9F8A-4FDE-9609-6623CC3FAC55}"/>
              </a:ext>
            </a:extLst>
          </p:cNvPr>
          <p:cNvSpPr>
            <a:spLocks noGrp="1"/>
          </p:cNvSpPr>
          <p:nvPr>
            <p:ph type="dt" sz="half" idx="10"/>
          </p:nvPr>
        </p:nvSpPr>
        <p:spPr/>
        <p:txBody>
          <a:bodyPr/>
          <a:lstStyle/>
          <a:p>
            <a:fld id="{F1C3202F-8059-4DF2-A9E4-D68EF32E0D92}" type="datetime1">
              <a:rPr lang="en-IN" smtClean="0"/>
              <a:t>14-11-2025</a:t>
            </a:fld>
            <a:endParaRPr lang="en-IN"/>
          </a:p>
        </p:txBody>
      </p:sp>
      <p:sp>
        <p:nvSpPr>
          <p:cNvPr id="5" name="Footer Placeholder 4">
            <a:extLst>
              <a:ext uri="{FF2B5EF4-FFF2-40B4-BE49-F238E27FC236}">
                <a16:creationId xmlns:a16="http://schemas.microsoft.com/office/drawing/2014/main" id="{D1C53DF1-A00F-420B-8DC5-C3BE89C700B2}"/>
              </a:ext>
            </a:extLst>
          </p:cNvPr>
          <p:cNvSpPr>
            <a:spLocks noGrp="1"/>
          </p:cNvSpPr>
          <p:nvPr>
            <p:ph type="ftr" sz="quarter" idx="11"/>
          </p:nvPr>
        </p:nvSpPr>
        <p:spPr/>
        <p:txBody>
          <a:bodyPr/>
          <a:lstStyle/>
          <a:p>
            <a:r>
              <a:rPr lang="en-US"/>
              <a:t>Dept. of Electronics and Telecommunication Hope Foundation’s International Institute of Information Technology Hinjawadi Pune</a:t>
            </a:r>
            <a:endParaRPr lang="en-IN"/>
          </a:p>
        </p:txBody>
      </p:sp>
      <p:sp>
        <p:nvSpPr>
          <p:cNvPr id="6" name="Slide Number Placeholder 5">
            <a:extLst>
              <a:ext uri="{FF2B5EF4-FFF2-40B4-BE49-F238E27FC236}">
                <a16:creationId xmlns:a16="http://schemas.microsoft.com/office/drawing/2014/main" id="{25C5DE4B-54CB-43B2-A850-41C285A12442}"/>
              </a:ext>
            </a:extLst>
          </p:cNvPr>
          <p:cNvSpPr>
            <a:spLocks noGrp="1"/>
          </p:cNvSpPr>
          <p:nvPr>
            <p:ph type="sldNum" sz="quarter" idx="12"/>
          </p:nvPr>
        </p:nvSpPr>
        <p:spPr/>
        <p:txBody>
          <a:bodyPr/>
          <a:lstStyle/>
          <a:p>
            <a:fld id="{1C31DEBF-AE20-4689-ADFF-879AF853B401}" type="slidenum">
              <a:rPr lang="en-IN" smtClean="0"/>
              <a:t>‹#›</a:t>
            </a:fld>
            <a:endParaRPr lang="en-IN"/>
          </a:p>
        </p:txBody>
      </p:sp>
    </p:spTree>
    <p:extLst>
      <p:ext uri="{BB962C8B-B14F-4D97-AF65-F5344CB8AC3E}">
        <p14:creationId xmlns:p14="http://schemas.microsoft.com/office/powerpoint/2010/main" val="2691098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018FD6-AE68-4F77-BD17-2FF73B6CAC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4E3FC0-C861-4E01-BCF1-E036E6495D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3F50F-CC62-413D-A183-C17E49B62885}"/>
              </a:ext>
            </a:extLst>
          </p:cNvPr>
          <p:cNvSpPr>
            <a:spLocks noGrp="1"/>
          </p:cNvSpPr>
          <p:nvPr>
            <p:ph type="dt" sz="half" idx="10"/>
          </p:nvPr>
        </p:nvSpPr>
        <p:spPr/>
        <p:txBody>
          <a:bodyPr/>
          <a:lstStyle/>
          <a:p>
            <a:fld id="{C40E293F-DD4D-4156-88B8-9E663D79EFA8}" type="datetime1">
              <a:rPr lang="en-IN" smtClean="0"/>
              <a:t>14-11-2025</a:t>
            </a:fld>
            <a:endParaRPr lang="en-IN"/>
          </a:p>
        </p:txBody>
      </p:sp>
      <p:sp>
        <p:nvSpPr>
          <p:cNvPr id="5" name="Footer Placeholder 4">
            <a:extLst>
              <a:ext uri="{FF2B5EF4-FFF2-40B4-BE49-F238E27FC236}">
                <a16:creationId xmlns:a16="http://schemas.microsoft.com/office/drawing/2014/main" id="{9F712F19-0D9A-4F50-81C8-57D39AFEFE14}"/>
              </a:ext>
            </a:extLst>
          </p:cNvPr>
          <p:cNvSpPr>
            <a:spLocks noGrp="1"/>
          </p:cNvSpPr>
          <p:nvPr>
            <p:ph type="ftr" sz="quarter" idx="11"/>
          </p:nvPr>
        </p:nvSpPr>
        <p:spPr/>
        <p:txBody>
          <a:bodyPr/>
          <a:lstStyle/>
          <a:p>
            <a:r>
              <a:rPr lang="en-US"/>
              <a:t>Dept. of Electronics and Telecommunication Hope Foundation’s International Institute of Information Technology Hinjawadi Pune</a:t>
            </a:r>
            <a:endParaRPr lang="en-IN"/>
          </a:p>
        </p:txBody>
      </p:sp>
      <p:sp>
        <p:nvSpPr>
          <p:cNvPr id="6" name="Slide Number Placeholder 5">
            <a:extLst>
              <a:ext uri="{FF2B5EF4-FFF2-40B4-BE49-F238E27FC236}">
                <a16:creationId xmlns:a16="http://schemas.microsoft.com/office/drawing/2014/main" id="{AA854237-5C31-4FBB-8D49-6E06EFE5CE6A}"/>
              </a:ext>
            </a:extLst>
          </p:cNvPr>
          <p:cNvSpPr>
            <a:spLocks noGrp="1"/>
          </p:cNvSpPr>
          <p:nvPr>
            <p:ph type="sldNum" sz="quarter" idx="12"/>
          </p:nvPr>
        </p:nvSpPr>
        <p:spPr/>
        <p:txBody>
          <a:bodyPr/>
          <a:lstStyle/>
          <a:p>
            <a:fld id="{1C31DEBF-AE20-4689-ADFF-879AF853B401}" type="slidenum">
              <a:rPr lang="en-IN" smtClean="0"/>
              <a:t>‹#›</a:t>
            </a:fld>
            <a:endParaRPr lang="en-IN"/>
          </a:p>
        </p:txBody>
      </p:sp>
    </p:spTree>
    <p:extLst>
      <p:ext uri="{BB962C8B-B14F-4D97-AF65-F5344CB8AC3E}">
        <p14:creationId xmlns:p14="http://schemas.microsoft.com/office/powerpoint/2010/main" val="2207147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9AEFBD-E390-49E8-8AF5-61BCF60AEB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40500D-0536-464E-9482-3AF1ED9D85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6B7492-818D-4A28-A7AF-EA2E05422B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A1EBD5-2FC5-435D-B0E2-A3263B6EEA60}" type="datetime1">
              <a:rPr lang="en-IN" smtClean="0"/>
              <a:t>14-11-2025</a:t>
            </a:fld>
            <a:endParaRPr lang="en-IN"/>
          </a:p>
        </p:txBody>
      </p:sp>
      <p:sp>
        <p:nvSpPr>
          <p:cNvPr id="5" name="Footer Placeholder 4">
            <a:extLst>
              <a:ext uri="{FF2B5EF4-FFF2-40B4-BE49-F238E27FC236}">
                <a16:creationId xmlns:a16="http://schemas.microsoft.com/office/drawing/2014/main" id="{55D68F2B-2E83-449E-9A75-F017910812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Electronics and Telecommunication Hope Foundation’s International Institute of Information Technology Hinjawadi Pune</a:t>
            </a:r>
            <a:endParaRPr lang="en-IN"/>
          </a:p>
        </p:txBody>
      </p:sp>
      <p:sp>
        <p:nvSpPr>
          <p:cNvPr id="6" name="Slide Number Placeholder 5">
            <a:extLst>
              <a:ext uri="{FF2B5EF4-FFF2-40B4-BE49-F238E27FC236}">
                <a16:creationId xmlns:a16="http://schemas.microsoft.com/office/drawing/2014/main" id="{E86D48CE-6569-4DFC-BC5E-771D564234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31DEBF-AE20-4689-ADFF-879AF853B401}" type="slidenum">
              <a:rPr lang="en-IN" smtClean="0"/>
              <a:t>‹#›</a:t>
            </a:fld>
            <a:endParaRPr lang="en-IN"/>
          </a:p>
        </p:txBody>
      </p:sp>
    </p:spTree>
    <p:extLst>
      <p:ext uri="{BB962C8B-B14F-4D97-AF65-F5344CB8AC3E}">
        <p14:creationId xmlns:p14="http://schemas.microsoft.com/office/powerpoint/2010/main" val="3398378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A8854-9782-4B5E-8030-6D95C32FF6EC}"/>
              </a:ext>
            </a:extLst>
          </p:cNvPr>
          <p:cNvSpPr>
            <a:spLocks noGrp="1"/>
          </p:cNvSpPr>
          <p:nvPr>
            <p:ph type="ctrTitle"/>
          </p:nvPr>
        </p:nvSpPr>
        <p:spPr>
          <a:xfrm>
            <a:off x="1570075" y="382771"/>
            <a:ext cx="9144000" cy="4886331"/>
          </a:xfrm>
        </p:spPr>
        <p:txBody>
          <a:bodyPr>
            <a:noAutofit/>
          </a:bodyPr>
          <a:lstStyle/>
          <a:p>
            <a:r>
              <a:rPr lang="en-IN" sz="2000" b="1" dirty="0">
                <a:latin typeface="Georgia" panose="02040502050405020303" pitchFamily="18" charset="0"/>
              </a:rPr>
              <a:t>BE Project Phase I Presentation</a:t>
            </a:r>
            <a:br>
              <a:rPr lang="en-IN" sz="3200" b="1" dirty="0">
                <a:solidFill>
                  <a:srgbClr val="002060"/>
                </a:solidFill>
                <a:latin typeface="Georgia" panose="02040502050405020303" pitchFamily="18" charset="0"/>
              </a:rPr>
            </a:br>
            <a:br>
              <a:rPr lang="en-IN" sz="3200" b="1" dirty="0">
                <a:solidFill>
                  <a:srgbClr val="002060"/>
                </a:solidFill>
                <a:latin typeface="Georgia" panose="02040502050405020303" pitchFamily="18" charset="0"/>
              </a:rPr>
            </a:br>
            <a:r>
              <a:rPr lang="en-IN" sz="3200" b="1" dirty="0">
                <a:solidFill>
                  <a:srgbClr val="002060"/>
                </a:solidFill>
                <a:latin typeface="Georgia" panose="02040502050405020303" pitchFamily="18" charset="0"/>
              </a:rPr>
              <a:t>Early Detection of Alzheimer’s Disease</a:t>
            </a:r>
            <a:br>
              <a:rPr lang="en-IN" sz="3200" b="1" dirty="0">
                <a:solidFill>
                  <a:srgbClr val="002060"/>
                </a:solidFill>
                <a:latin typeface="Georgia" panose="02040502050405020303" pitchFamily="18" charset="0"/>
              </a:rPr>
            </a:br>
            <a:br>
              <a:rPr lang="en-IN" sz="3200" b="1" dirty="0">
                <a:solidFill>
                  <a:srgbClr val="002060"/>
                </a:solidFill>
                <a:latin typeface="Georgia" panose="02040502050405020303" pitchFamily="18" charset="0"/>
              </a:rPr>
            </a:br>
            <a:br>
              <a:rPr lang="en-IN" sz="2800" dirty="0">
                <a:latin typeface="Georgia" panose="02040502050405020303" pitchFamily="18" charset="0"/>
              </a:rPr>
            </a:br>
            <a:br>
              <a:rPr lang="en-IN" sz="2000" dirty="0">
                <a:latin typeface="Georgia" panose="02040502050405020303" pitchFamily="18" charset="0"/>
              </a:rPr>
            </a:br>
            <a:r>
              <a:rPr lang="en-US" sz="2000" dirty="0">
                <a:latin typeface="Georgia" panose="02040502050405020303" pitchFamily="18" charset="0"/>
              </a:rPr>
              <a:t>Presented by </a:t>
            </a:r>
            <a:br>
              <a:rPr lang="en-US" sz="2800" dirty="0">
                <a:latin typeface="Georgia" panose="02040502050405020303" pitchFamily="18" charset="0"/>
              </a:rPr>
            </a:br>
            <a:r>
              <a:rPr lang="en-US" sz="2000" b="1" i="1" dirty="0">
                <a:solidFill>
                  <a:srgbClr val="C00000"/>
                </a:solidFill>
                <a:effectLst>
                  <a:outerShdw blurRad="38100" dist="38100" dir="2700000" algn="tl">
                    <a:srgbClr val="000000">
                      <a:alpha val="43137"/>
                    </a:srgbClr>
                  </a:outerShdw>
                </a:effectLst>
                <a:latin typeface="Georgia" panose="02040502050405020303" pitchFamily="18" charset="0"/>
              </a:rPr>
              <a:t>ANIRUDDH KAWLE (BEA29)</a:t>
            </a:r>
            <a:br>
              <a:rPr lang="en-US" sz="2000" b="1" i="1" dirty="0">
                <a:solidFill>
                  <a:srgbClr val="C00000"/>
                </a:solidFill>
                <a:effectLst>
                  <a:outerShdw blurRad="38100" dist="38100" dir="2700000" algn="tl">
                    <a:srgbClr val="000000">
                      <a:alpha val="43137"/>
                    </a:srgbClr>
                  </a:outerShdw>
                </a:effectLst>
                <a:latin typeface="Georgia" panose="02040502050405020303" pitchFamily="18" charset="0"/>
              </a:rPr>
            </a:br>
            <a:r>
              <a:rPr lang="en-US" sz="2000" b="1" i="1" dirty="0">
                <a:solidFill>
                  <a:srgbClr val="C00000"/>
                </a:solidFill>
                <a:effectLst>
                  <a:outerShdw blurRad="38100" dist="38100" dir="2700000" algn="tl">
                    <a:srgbClr val="000000">
                      <a:alpha val="43137"/>
                    </a:srgbClr>
                  </a:outerShdw>
                </a:effectLst>
                <a:latin typeface="Georgia" panose="02040502050405020303" pitchFamily="18" charset="0"/>
              </a:rPr>
              <a:t> AAYUSH WALOKAR (BEA20)</a:t>
            </a:r>
            <a:br>
              <a:rPr lang="en-US" sz="2000" b="1" i="1" dirty="0">
                <a:solidFill>
                  <a:srgbClr val="C00000"/>
                </a:solidFill>
                <a:effectLst>
                  <a:outerShdw blurRad="38100" dist="38100" dir="2700000" algn="tl">
                    <a:srgbClr val="000000">
                      <a:alpha val="43137"/>
                    </a:srgbClr>
                  </a:outerShdw>
                </a:effectLst>
                <a:latin typeface="Georgia" panose="02040502050405020303" pitchFamily="18" charset="0"/>
              </a:rPr>
            </a:br>
            <a:r>
              <a:rPr lang="en-US" sz="2000" b="1" i="1" dirty="0">
                <a:solidFill>
                  <a:srgbClr val="C00000"/>
                </a:solidFill>
                <a:effectLst>
                  <a:outerShdw blurRad="38100" dist="38100" dir="2700000" algn="tl">
                    <a:srgbClr val="000000">
                      <a:alpha val="43137"/>
                    </a:srgbClr>
                  </a:outerShdw>
                </a:effectLst>
                <a:latin typeface="Georgia" panose="02040502050405020303" pitchFamily="18" charset="0"/>
              </a:rPr>
              <a:t> SHITAL KARDILE (BEA24)</a:t>
            </a:r>
            <a:br>
              <a:rPr lang="en-US" sz="2000" b="1" i="1" dirty="0">
                <a:solidFill>
                  <a:srgbClr val="C00000"/>
                </a:solidFill>
                <a:effectLst>
                  <a:outerShdw blurRad="38100" dist="38100" dir="2700000" algn="tl">
                    <a:srgbClr val="000000">
                      <a:alpha val="43137"/>
                    </a:srgbClr>
                  </a:outerShdw>
                </a:effectLst>
                <a:latin typeface="Georgia" panose="02040502050405020303" pitchFamily="18" charset="0"/>
              </a:rPr>
            </a:br>
            <a:br>
              <a:rPr lang="en-US" sz="2400" dirty="0">
                <a:latin typeface="Georgia" panose="02040502050405020303" pitchFamily="18" charset="0"/>
              </a:rPr>
            </a:br>
            <a:r>
              <a:rPr lang="en-US" sz="2000" dirty="0">
                <a:latin typeface="Georgia" panose="02040502050405020303" pitchFamily="18" charset="0"/>
              </a:rPr>
              <a:t>Guided by </a:t>
            </a:r>
            <a:br>
              <a:rPr lang="en-US" sz="2800" dirty="0">
                <a:latin typeface="Georgia" panose="02040502050405020303" pitchFamily="18" charset="0"/>
              </a:rPr>
            </a:br>
            <a:r>
              <a:rPr lang="en-US" sz="2000" b="1" i="1" dirty="0">
                <a:solidFill>
                  <a:srgbClr val="C00000"/>
                </a:solidFill>
                <a:effectLst>
                  <a:outerShdw blurRad="38100" dist="38100" dir="2700000" algn="tl">
                    <a:srgbClr val="000000">
                      <a:alpha val="43137"/>
                    </a:srgbClr>
                  </a:outerShdw>
                </a:effectLst>
                <a:latin typeface="Georgia" panose="02040502050405020303" pitchFamily="18" charset="0"/>
              </a:rPr>
              <a:t>Prof. SHWETA JAIN</a:t>
            </a:r>
            <a:endParaRPr lang="en-IN" sz="2800" b="1" dirty="0">
              <a:latin typeface="Georgia" panose="02040502050405020303" pitchFamily="18" charset="0"/>
            </a:endParaRPr>
          </a:p>
        </p:txBody>
      </p:sp>
      <p:sp>
        <p:nvSpPr>
          <p:cNvPr id="3" name="Subtitle 2">
            <a:extLst>
              <a:ext uri="{FF2B5EF4-FFF2-40B4-BE49-F238E27FC236}">
                <a16:creationId xmlns:a16="http://schemas.microsoft.com/office/drawing/2014/main" id="{EF4041E0-6AA5-4F4C-8AE3-23AEBE5CA347}"/>
              </a:ext>
            </a:extLst>
          </p:cNvPr>
          <p:cNvSpPr>
            <a:spLocks noGrp="1"/>
          </p:cNvSpPr>
          <p:nvPr>
            <p:ph type="subTitle" idx="1"/>
          </p:nvPr>
        </p:nvSpPr>
        <p:spPr>
          <a:xfrm>
            <a:off x="1438940" y="5560828"/>
            <a:ext cx="9144000" cy="914400"/>
          </a:xfrm>
        </p:spPr>
        <p:txBody>
          <a:bodyPr>
            <a:normAutofit fontScale="92500" lnSpcReduction="20000"/>
          </a:bodyPr>
          <a:lstStyle/>
          <a:p>
            <a:r>
              <a:rPr lang="en-US" sz="1800" b="1" dirty="0">
                <a:solidFill>
                  <a:srgbClr val="002060"/>
                </a:solidFill>
                <a:latin typeface="Georgia" panose="02040502050405020303" pitchFamily="18" charset="0"/>
              </a:rPr>
              <a:t>Dept. of Electronics and Telecommunication </a:t>
            </a:r>
          </a:p>
          <a:p>
            <a:r>
              <a:rPr lang="en-US" sz="1800" b="1" dirty="0">
                <a:solidFill>
                  <a:srgbClr val="002060"/>
                </a:solidFill>
                <a:latin typeface="Georgia" panose="02040502050405020303" pitchFamily="18" charset="0"/>
              </a:rPr>
              <a:t>Hope Foundation’s </a:t>
            </a:r>
          </a:p>
          <a:p>
            <a:r>
              <a:rPr lang="en-US" sz="1800" b="1" dirty="0">
                <a:solidFill>
                  <a:srgbClr val="002060"/>
                </a:solidFill>
                <a:latin typeface="Georgia" panose="02040502050405020303" pitchFamily="18" charset="0"/>
              </a:rPr>
              <a:t>International Institute of Information Technology </a:t>
            </a:r>
            <a:r>
              <a:rPr lang="en-US" sz="1800" b="1" dirty="0" err="1">
                <a:solidFill>
                  <a:srgbClr val="002060"/>
                </a:solidFill>
                <a:latin typeface="Georgia" panose="02040502050405020303" pitchFamily="18" charset="0"/>
              </a:rPr>
              <a:t>Hinjawadi</a:t>
            </a:r>
            <a:r>
              <a:rPr lang="en-US" sz="1800" b="1" dirty="0">
                <a:solidFill>
                  <a:srgbClr val="002060"/>
                </a:solidFill>
                <a:latin typeface="Georgia" panose="02040502050405020303" pitchFamily="18" charset="0"/>
              </a:rPr>
              <a:t> Pune</a:t>
            </a:r>
            <a:endParaRPr lang="en-IN" sz="1800" b="1" dirty="0">
              <a:solidFill>
                <a:srgbClr val="002060"/>
              </a:solidFill>
              <a:latin typeface="Georgia" panose="02040502050405020303" pitchFamily="18" charset="0"/>
            </a:endParaRPr>
          </a:p>
        </p:txBody>
      </p:sp>
      <p:pic>
        <p:nvPicPr>
          <p:cNvPr id="4" name="Picture 3"/>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spTree>
    <p:extLst>
      <p:ext uri="{BB962C8B-B14F-4D97-AF65-F5344CB8AC3E}">
        <p14:creationId xmlns:p14="http://schemas.microsoft.com/office/powerpoint/2010/main" val="473099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C7C86-68EF-4B69-AED1-D0FBC3ED10E9}"/>
              </a:ext>
            </a:extLst>
          </p:cNvPr>
          <p:cNvSpPr>
            <a:spLocks noGrp="1"/>
          </p:cNvSpPr>
          <p:nvPr>
            <p:ph type="title"/>
          </p:nvPr>
        </p:nvSpPr>
        <p:spPr>
          <a:xfrm>
            <a:off x="0" y="192344"/>
            <a:ext cx="12192000" cy="881542"/>
          </a:xfrm>
        </p:spPr>
        <p:txBody>
          <a:bodyPr/>
          <a:lstStyle/>
          <a:p>
            <a:pPr algn="ctr"/>
            <a:r>
              <a:rPr lang="en-IN" b="1" dirty="0">
                <a:solidFill>
                  <a:srgbClr val="002060"/>
                </a:solidFill>
                <a:latin typeface="Georgia" panose="02040502050405020303" pitchFamily="18" charset="0"/>
              </a:rPr>
              <a:t>Outline</a:t>
            </a:r>
          </a:p>
        </p:txBody>
      </p:sp>
      <p:sp>
        <p:nvSpPr>
          <p:cNvPr id="4" name="Date Placeholder 3">
            <a:extLst>
              <a:ext uri="{FF2B5EF4-FFF2-40B4-BE49-F238E27FC236}">
                <a16:creationId xmlns:a16="http://schemas.microsoft.com/office/drawing/2014/main" id="{78A9E1E1-7DB7-483B-8152-E9F02A669314}"/>
              </a:ext>
            </a:extLst>
          </p:cNvPr>
          <p:cNvSpPr>
            <a:spLocks noGrp="1"/>
          </p:cNvSpPr>
          <p:nvPr>
            <p:ph type="dt" sz="half" idx="10"/>
          </p:nvPr>
        </p:nvSpPr>
        <p:spPr>
          <a:xfrm>
            <a:off x="125818" y="6356351"/>
            <a:ext cx="1086293" cy="365124"/>
          </a:xfrm>
        </p:spPr>
        <p:txBody>
          <a:bodyPr/>
          <a:lstStyle/>
          <a:p>
            <a:fld id="{A58CC119-EF3E-4F4B-B4FC-48A3577E140C}" type="datetime1">
              <a:rPr lang="en-IN" smtClean="0">
                <a:latin typeface="Georgia" panose="02040502050405020303" pitchFamily="18" charset="0"/>
              </a:rPr>
              <a:t>14-11-2025</a:t>
            </a:fld>
            <a:endParaRPr lang="en-IN" dirty="0">
              <a:latin typeface="Georgia" panose="02040502050405020303" pitchFamily="18" charset="0"/>
            </a:endParaRPr>
          </a:p>
        </p:txBody>
      </p:sp>
      <p:sp>
        <p:nvSpPr>
          <p:cNvPr id="5" name="Footer Placeholder 4">
            <a:extLst>
              <a:ext uri="{FF2B5EF4-FFF2-40B4-BE49-F238E27FC236}">
                <a16:creationId xmlns:a16="http://schemas.microsoft.com/office/drawing/2014/main" id="{9AA86095-2EA8-44CE-9EDF-5A05AFE2E584}"/>
              </a:ext>
            </a:extLst>
          </p:cNvPr>
          <p:cNvSpPr>
            <a:spLocks noGrp="1"/>
          </p:cNvSpPr>
          <p:nvPr>
            <p:ph type="ftr" sz="quarter" idx="11"/>
          </p:nvPr>
        </p:nvSpPr>
        <p:spPr>
          <a:xfrm>
            <a:off x="1998921" y="6356351"/>
            <a:ext cx="8272129" cy="365124"/>
          </a:xfrm>
        </p:spPr>
        <p:txBody>
          <a:bodyPr/>
          <a:lstStyle/>
          <a:p>
            <a:r>
              <a:rPr lang="en-US" dirty="0">
                <a:latin typeface="Georgia" panose="02040502050405020303" pitchFamily="18" charset="0"/>
              </a:rPr>
              <a:t>Dept. of Electronics and Telecommunication </a:t>
            </a:r>
          </a:p>
          <a:p>
            <a:r>
              <a:rPr lang="en-US" dirty="0">
                <a:latin typeface="Georgia" panose="02040502050405020303" pitchFamily="18" charset="0"/>
              </a:rPr>
              <a:t>Hope Foundation’s International Institute of Information Technology, </a:t>
            </a:r>
            <a:r>
              <a:rPr lang="en-US" dirty="0" err="1">
                <a:latin typeface="Georgia" panose="02040502050405020303" pitchFamily="18" charset="0"/>
              </a:rPr>
              <a:t>Hinjawadi</a:t>
            </a:r>
            <a:r>
              <a:rPr lang="en-US" dirty="0">
                <a:latin typeface="Georgia" panose="02040502050405020303" pitchFamily="18" charset="0"/>
              </a:rPr>
              <a:t>, Pune</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C38BB812-B607-47EF-A780-9C9FB18F8571}"/>
              </a:ext>
            </a:extLst>
          </p:cNvPr>
          <p:cNvSpPr>
            <a:spLocks noGrp="1"/>
          </p:cNvSpPr>
          <p:nvPr>
            <p:ph type="sldNum" sz="quarter" idx="12"/>
          </p:nvPr>
        </p:nvSpPr>
        <p:spPr>
          <a:xfrm>
            <a:off x="11493795" y="6356352"/>
            <a:ext cx="487326" cy="365124"/>
          </a:xfrm>
        </p:spPr>
        <p:txBody>
          <a:bodyPr/>
          <a:lstStyle/>
          <a:p>
            <a:fld id="{1C31DEBF-AE20-4689-ADFF-879AF853B401}" type="slidenum">
              <a:rPr lang="en-IN" smtClean="0">
                <a:latin typeface="Georgia" panose="02040502050405020303" pitchFamily="18" charset="0"/>
              </a:rPr>
              <a:t>2</a:t>
            </a:fld>
            <a:endParaRPr lang="en-IN" dirty="0">
              <a:latin typeface="Georgia" panose="02040502050405020303" pitchFamily="18" charset="0"/>
            </a:endParaRPr>
          </a:p>
        </p:txBody>
      </p:sp>
      <p:sp>
        <p:nvSpPr>
          <p:cNvPr id="9" name="Content Placeholder 2">
            <a:extLst>
              <a:ext uri="{FF2B5EF4-FFF2-40B4-BE49-F238E27FC236}">
                <a16:creationId xmlns:a16="http://schemas.microsoft.com/office/drawing/2014/main" id="{5D835353-1A31-463F-B4DC-811725AFF11B}"/>
              </a:ext>
            </a:extLst>
          </p:cNvPr>
          <p:cNvSpPr txBox="1">
            <a:spLocks/>
          </p:cNvSpPr>
          <p:nvPr/>
        </p:nvSpPr>
        <p:spPr>
          <a:xfrm>
            <a:off x="763772" y="1539449"/>
            <a:ext cx="10515600" cy="43513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Georgia" panose="02040502050405020303" pitchFamily="18" charset="0"/>
              </a:rPr>
              <a:t>Introduction</a:t>
            </a:r>
          </a:p>
          <a:p>
            <a:r>
              <a:rPr lang="en-US" dirty="0">
                <a:latin typeface="Georgia" panose="02040502050405020303" pitchFamily="18" charset="0"/>
              </a:rPr>
              <a:t>Literature survey </a:t>
            </a:r>
          </a:p>
          <a:p>
            <a:r>
              <a:rPr lang="en-IN" sz="2900" dirty="0">
                <a:latin typeface="Georgia" panose="02040502050405020303" pitchFamily="18" charset="0"/>
              </a:rPr>
              <a:t>Gap Identification</a:t>
            </a:r>
          </a:p>
          <a:p>
            <a:r>
              <a:rPr lang="en-US" dirty="0">
                <a:latin typeface="Georgia" panose="02040502050405020303" pitchFamily="18" charset="0"/>
              </a:rPr>
              <a:t>Problem statement and Objectives</a:t>
            </a:r>
          </a:p>
          <a:p>
            <a:r>
              <a:rPr lang="en-IN" dirty="0">
                <a:latin typeface="Georgia" panose="02040502050405020303" pitchFamily="18" charset="0"/>
              </a:rPr>
              <a:t>Proposed Methodology </a:t>
            </a:r>
          </a:p>
          <a:p>
            <a:r>
              <a:rPr lang="en-US" dirty="0">
                <a:latin typeface="Georgia" panose="02040502050405020303" pitchFamily="18" charset="0"/>
              </a:rPr>
              <a:t>Requirement analysis</a:t>
            </a:r>
            <a:endParaRPr lang="en-US" sz="1600" dirty="0">
              <a:latin typeface="Georgia" panose="02040502050405020303" pitchFamily="18" charset="0"/>
            </a:endParaRPr>
          </a:p>
          <a:p>
            <a:r>
              <a:rPr lang="en-US" dirty="0">
                <a:latin typeface="Georgia" panose="02040502050405020303" pitchFamily="18" charset="0"/>
              </a:rPr>
              <a:t>Impact analysis </a:t>
            </a:r>
          </a:p>
          <a:p>
            <a:r>
              <a:rPr lang="en-US" dirty="0">
                <a:latin typeface="Georgia" panose="02040502050405020303" pitchFamily="18" charset="0"/>
              </a:rPr>
              <a:t>Professional Ethical practices to be followed </a:t>
            </a:r>
            <a:endParaRPr lang="en-US" sz="1400" dirty="0">
              <a:latin typeface="Georgia" panose="02040502050405020303" pitchFamily="18" charset="0"/>
            </a:endParaRPr>
          </a:p>
          <a:p>
            <a:r>
              <a:rPr lang="en-IN" dirty="0">
                <a:latin typeface="Georgia" panose="02040502050405020303" pitchFamily="18" charset="0"/>
              </a:rPr>
              <a:t>System Implementation</a:t>
            </a:r>
          </a:p>
          <a:p>
            <a:r>
              <a:rPr lang="en-IN" dirty="0">
                <a:latin typeface="Georgia" panose="02040502050405020303" pitchFamily="18" charset="0"/>
              </a:rPr>
              <a:t>Results and discussion</a:t>
            </a:r>
          </a:p>
          <a:p>
            <a:r>
              <a:rPr lang="en-IN" dirty="0">
                <a:latin typeface="Georgia" panose="02040502050405020303" pitchFamily="18" charset="0"/>
              </a:rPr>
              <a:t>Conclusions and Future Scope</a:t>
            </a:r>
          </a:p>
          <a:p>
            <a:r>
              <a:rPr lang="en-IN" dirty="0">
                <a:latin typeface="Georgia" panose="02040502050405020303" pitchFamily="18" charset="0"/>
              </a:rPr>
              <a:t>References</a:t>
            </a:r>
            <a:endParaRPr lang="en-US" dirty="0">
              <a:latin typeface="Georgia" panose="02040502050405020303" pitchFamily="18" charset="0"/>
            </a:endParaRPr>
          </a:p>
          <a:p>
            <a:endParaRPr lang="en-US" sz="1400" dirty="0">
              <a:latin typeface="Georgia" panose="02040502050405020303" pitchFamily="18" charset="0"/>
            </a:endParaRPr>
          </a:p>
          <a:p>
            <a:endParaRPr lang="en-US" dirty="0">
              <a:latin typeface="Georgia" panose="02040502050405020303" pitchFamily="18" charset="0"/>
            </a:endParaRPr>
          </a:p>
        </p:txBody>
      </p:sp>
      <p:pic>
        <p:nvPicPr>
          <p:cNvPr id="10" name="Picture 9"/>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spTree>
    <p:extLst>
      <p:ext uri="{BB962C8B-B14F-4D97-AF65-F5344CB8AC3E}">
        <p14:creationId xmlns:p14="http://schemas.microsoft.com/office/powerpoint/2010/main" val="3943378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C7C86-68EF-4B69-AED1-D0FBC3ED10E9}"/>
              </a:ext>
            </a:extLst>
          </p:cNvPr>
          <p:cNvSpPr>
            <a:spLocks noGrp="1"/>
          </p:cNvSpPr>
          <p:nvPr>
            <p:ph type="title"/>
          </p:nvPr>
        </p:nvSpPr>
        <p:spPr>
          <a:xfrm>
            <a:off x="0" y="192344"/>
            <a:ext cx="12192000" cy="881542"/>
          </a:xfrm>
        </p:spPr>
        <p:txBody>
          <a:bodyPr>
            <a:normAutofit/>
          </a:bodyPr>
          <a:lstStyle/>
          <a:p>
            <a:pPr algn="ctr"/>
            <a:r>
              <a:rPr lang="en-US" b="1" dirty="0">
                <a:solidFill>
                  <a:srgbClr val="002060"/>
                </a:solidFill>
                <a:latin typeface="Georgia" panose="02040502050405020303" pitchFamily="18" charset="0"/>
              </a:rPr>
              <a:t>Introduction</a:t>
            </a:r>
            <a:endParaRPr lang="en-IN" b="1" dirty="0">
              <a:solidFill>
                <a:srgbClr val="002060"/>
              </a:solidFill>
              <a:latin typeface="Georgia" panose="02040502050405020303" pitchFamily="18" charset="0"/>
            </a:endParaRPr>
          </a:p>
        </p:txBody>
      </p:sp>
      <p:sp>
        <p:nvSpPr>
          <p:cNvPr id="4" name="Date Placeholder 3">
            <a:extLst>
              <a:ext uri="{FF2B5EF4-FFF2-40B4-BE49-F238E27FC236}">
                <a16:creationId xmlns:a16="http://schemas.microsoft.com/office/drawing/2014/main" id="{78A9E1E1-7DB7-483B-8152-E9F02A669314}"/>
              </a:ext>
            </a:extLst>
          </p:cNvPr>
          <p:cNvSpPr>
            <a:spLocks noGrp="1"/>
          </p:cNvSpPr>
          <p:nvPr>
            <p:ph type="dt" sz="half" idx="10"/>
          </p:nvPr>
        </p:nvSpPr>
        <p:spPr>
          <a:xfrm>
            <a:off x="125818" y="6356351"/>
            <a:ext cx="1086293" cy="365124"/>
          </a:xfrm>
        </p:spPr>
        <p:txBody>
          <a:bodyPr/>
          <a:lstStyle/>
          <a:p>
            <a:fld id="{A58CC119-EF3E-4F4B-B4FC-48A3577E140C}" type="datetime1">
              <a:rPr lang="en-IN" smtClean="0">
                <a:latin typeface="Georgia" panose="02040502050405020303" pitchFamily="18" charset="0"/>
              </a:rPr>
              <a:t>14-11-2025</a:t>
            </a:fld>
            <a:endParaRPr lang="en-IN" dirty="0">
              <a:latin typeface="Georgia" panose="02040502050405020303" pitchFamily="18" charset="0"/>
            </a:endParaRPr>
          </a:p>
        </p:txBody>
      </p:sp>
      <p:sp>
        <p:nvSpPr>
          <p:cNvPr id="5" name="Footer Placeholder 4">
            <a:extLst>
              <a:ext uri="{FF2B5EF4-FFF2-40B4-BE49-F238E27FC236}">
                <a16:creationId xmlns:a16="http://schemas.microsoft.com/office/drawing/2014/main" id="{9AA86095-2EA8-44CE-9EDF-5A05AFE2E584}"/>
              </a:ext>
            </a:extLst>
          </p:cNvPr>
          <p:cNvSpPr>
            <a:spLocks noGrp="1"/>
          </p:cNvSpPr>
          <p:nvPr>
            <p:ph type="ftr" sz="quarter" idx="11"/>
          </p:nvPr>
        </p:nvSpPr>
        <p:spPr>
          <a:xfrm>
            <a:off x="1998921" y="6356351"/>
            <a:ext cx="8272129" cy="365124"/>
          </a:xfrm>
        </p:spPr>
        <p:txBody>
          <a:bodyPr/>
          <a:lstStyle/>
          <a:p>
            <a:r>
              <a:rPr lang="en-US" dirty="0">
                <a:latin typeface="Georgia" panose="02040502050405020303" pitchFamily="18" charset="0"/>
              </a:rPr>
              <a:t>Dept. of Electronics and Telecommunication </a:t>
            </a:r>
          </a:p>
          <a:p>
            <a:r>
              <a:rPr lang="en-US" dirty="0">
                <a:latin typeface="Georgia" panose="02040502050405020303" pitchFamily="18" charset="0"/>
              </a:rPr>
              <a:t>Hope Foundation’s International Institute of Information Technology, </a:t>
            </a:r>
            <a:r>
              <a:rPr lang="en-US" dirty="0" err="1">
                <a:latin typeface="Georgia" panose="02040502050405020303" pitchFamily="18" charset="0"/>
              </a:rPr>
              <a:t>Hinjawadi</a:t>
            </a:r>
            <a:r>
              <a:rPr lang="en-US" dirty="0">
                <a:latin typeface="Georgia" panose="02040502050405020303" pitchFamily="18" charset="0"/>
              </a:rPr>
              <a:t>, Pune</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C38BB812-B607-47EF-A780-9C9FB18F8571}"/>
              </a:ext>
            </a:extLst>
          </p:cNvPr>
          <p:cNvSpPr>
            <a:spLocks noGrp="1"/>
          </p:cNvSpPr>
          <p:nvPr>
            <p:ph type="sldNum" sz="quarter" idx="12"/>
          </p:nvPr>
        </p:nvSpPr>
        <p:spPr>
          <a:xfrm>
            <a:off x="11493795" y="6356352"/>
            <a:ext cx="487326" cy="365124"/>
          </a:xfrm>
        </p:spPr>
        <p:txBody>
          <a:bodyPr/>
          <a:lstStyle/>
          <a:p>
            <a:fld id="{1C31DEBF-AE20-4689-ADFF-879AF853B401}" type="slidenum">
              <a:rPr lang="en-IN" smtClean="0">
                <a:latin typeface="Georgia" panose="02040502050405020303" pitchFamily="18" charset="0"/>
              </a:rPr>
              <a:t>3</a:t>
            </a:fld>
            <a:endParaRPr lang="en-IN" dirty="0">
              <a:latin typeface="Georgia" panose="02040502050405020303" pitchFamily="18" charset="0"/>
            </a:endParaRPr>
          </a:p>
        </p:txBody>
      </p:sp>
      <p:sp>
        <p:nvSpPr>
          <p:cNvPr id="9" name="Content Placeholder 2">
            <a:extLst>
              <a:ext uri="{FF2B5EF4-FFF2-40B4-BE49-F238E27FC236}">
                <a16:creationId xmlns:a16="http://schemas.microsoft.com/office/drawing/2014/main" id="{5D835353-1A31-463F-B4DC-811725AFF11B}"/>
              </a:ext>
            </a:extLst>
          </p:cNvPr>
          <p:cNvSpPr txBox="1">
            <a:spLocks/>
          </p:cNvSpPr>
          <p:nvPr/>
        </p:nvSpPr>
        <p:spPr>
          <a:xfrm>
            <a:off x="763772" y="153944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ct val="0"/>
              </a:spcBef>
              <a:buNone/>
            </a:pPr>
            <a:r>
              <a:rPr lang="en-US" sz="2000" dirty="0">
                <a:latin typeface="Arial" panose="020B0604020202020204" pitchFamily="34" charset="0"/>
                <a:cs typeface="Arial" panose="020B0604020202020204" pitchFamily="34" charset="0"/>
              </a:rPr>
              <a:t>Alzheimer’s Disease (AD) is a progressive neurological disorder causing memory loss, cognitive decline, and behavioral changes, mainly in the elderly. Early detection, especially at the Mild Cognitive Impairment (MCI) stage, is crucial to slow disease progression.</a:t>
            </a:r>
          </a:p>
          <a:p>
            <a:pPr marL="0" indent="0">
              <a:lnSpc>
                <a:spcPct val="110000"/>
              </a:lnSpc>
              <a:spcBef>
                <a:spcPct val="0"/>
              </a:spcBef>
              <a:buNone/>
            </a:pPr>
            <a:r>
              <a:rPr lang="en-US" sz="2000" dirty="0">
                <a:latin typeface="Arial" panose="020B0604020202020204" pitchFamily="34" charset="0"/>
                <a:cs typeface="Arial" panose="020B0604020202020204" pitchFamily="34" charset="0"/>
              </a:rPr>
              <a:t> </a:t>
            </a:r>
          </a:p>
          <a:p>
            <a:pPr marL="0" indent="0">
              <a:lnSpc>
                <a:spcPct val="110000"/>
              </a:lnSpc>
              <a:spcBef>
                <a:spcPct val="0"/>
              </a:spcBef>
              <a:buNone/>
            </a:pPr>
            <a:r>
              <a:rPr lang="en-US" sz="2000" dirty="0">
                <a:latin typeface="Arial" panose="020B0604020202020204" pitchFamily="34" charset="0"/>
                <a:cs typeface="Arial" panose="020B0604020202020204" pitchFamily="34" charset="0"/>
              </a:rPr>
              <a:t>Traditional diagnostic methods using MRI or PET scans are often manual, subjective, and time-consuming. To address this, AI and Deep Learning—particularly Convolutional Neural Networks (CNNs)—offer a powerful alternative for accurate and early diagnosis.</a:t>
            </a:r>
          </a:p>
          <a:p>
            <a:pPr marL="0" indent="0">
              <a:lnSpc>
                <a:spcPct val="110000"/>
              </a:lnSpc>
              <a:spcBef>
                <a:spcPct val="0"/>
              </a:spcBef>
              <a:buNone/>
            </a:pPr>
            <a:endParaRPr lang="en-US" sz="2000" dirty="0">
              <a:latin typeface="Arial" panose="020B0604020202020204" pitchFamily="34" charset="0"/>
              <a:cs typeface="Arial" panose="020B0604020202020204" pitchFamily="34" charset="0"/>
            </a:endParaRPr>
          </a:p>
          <a:p>
            <a:pPr marL="0" indent="0">
              <a:lnSpc>
                <a:spcPct val="110000"/>
              </a:lnSpc>
              <a:spcBef>
                <a:spcPct val="0"/>
              </a:spcBef>
              <a:buNone/>
            </a:pPr>
            <a:r>
              <a:rPr lang="en-US" sz="2000" dirty="0">
                <a:latin typeface="Arial" panose="020B0604020202020204" pitchFamily="34" charset="0"/>
                <a:cs typeface="Arial" panose="020B0604020202020204" pitchFamily="34" charset="0"/>
              </a:rPr>
              <a:t> This project uses the ADNI dataset to train a deep learning model that classifies brain scans into Normal, MCI, and AD categories. Model performance will be evaluated using accuracy, precision, recall, F1-score, and ROC-AUC to ensure clinical reliability</a:t>
            </a:r>
            <a:endParaRPr lang="en-US" sz="2000" b="1" i="1" dirty="0">
              <a:solidFill>
                <a:srgbClr val="C00000"/>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endParaRPr lang="en-US" dirty="0">
              <a:latin typeface="Georgia" panose="02040502050405020303" pitchFamily="18" charset="0"/>
            </a:endParaRPr>
          </a:p>
        </p:txBody>
      </p:sp>
      <p:pic>
        <p:nvPicPr>
          <p:cNvPr id="10" name="Picture 9"/>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spTree>
    <p:extLst>
      <p:ext uri="{BB962C8B-B14F-4D97-AF65-F5344CB8AC3E}">
        <p14:creationId xmlns:p14="http://schemas.microsoft.com/office/powerpoint/2010/main" val="61468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C7C86-68EF-4B69-AED1-D0FBC3ED10E9}"/>
              </a:ext>
            </a:extLst>
          </p:cNvPr>
          <p:cNvSpPr>
            <a:spLocks noGrp="1"/>
          </p:cNvSpPr>
          <p:nvPr>
            <p:ph type="title"/>
          </p:nvPr>
        </p:nvSpPr>
        <p:spPr>
          <a:xfrm>
            <a:off x="0" y="192344"/>
            <a:ext cx="12192000" cy="881542"/>
          </a:xfrm>
        </p:spPr>
        <p:txBody>
          <a:bodyPr>
            <a:normAutofit/>
          </a:bodyPr>
          <a:lstStyle/>
          <a:p>
            <a:pPr algn="ctr"/>
            <a:r>
              <a:rPr lang="en-US" b="1" dirty="0">
                <a:solidFill>
                  <a:srgbClr val="002060"/>
                </a:solidFill>
                <a:latin typeface="Georgia" panose="02040502050405020303" pitchFamily="18" charset="0"/>
              </a:rPr>
              <a:t>Literature survey </a:t>
            </a:r>
            <a:endParaRPr lang="en-IN" b="1" dirty="0">
              <a:solidFill>
                <a:srgbClr val="002060"/>
              </a:solidFill>
              <a:latin typeface="Georgia" panose="02040502050405020303" pitchFamily="18" charset="0"/>
            </a:endParaRPr>
          </a:p>
        </p:txBody>
      </p:sp>
      <p:sp>
        <p:nvSpPr>
          <p:cNvPr id="4" name="Date Placeholder 3">
            <a:extLst>
              <a:ext uri="{FF2B5EF4-FFF2-40B4-BE49-F238E27FC236}">
                <a16:creationId xmlns:a16="http://schemas.microsoft.com/office/drawing/2014/main" id="{78A9E1E1-7DB7-483B-8152-E9F02A669314}"/>
              </a:ext>
            </a:extLst>
          </p:cNvPr>
          <p:cNvSpPr>
            <a:spLocks noGrp="1"/>
          </p:cNvSpPr>
          <p:nvPr>
            <p:ph type="dt" sz="half" idx="10"/>
          </p:nvPr>
        </p:nvSpPr>
        <p:spPr>
          <a:xfrm>
            <a:off x="125818" y="6356351"/>
            <a:ext cx="1086293" cy="365124"/>
          </a:xfrm>
        </p:spPr>
        <p:txBody>
          <a:bodyPr/>
          <a:lstStyle/>
          <a:p>
            <a:fld id="{A58CC119-EF3E-4F4B-B4FC-48A3577E140C}" type="datetime1">
              <a:rPr lang="en-IN" smtClean="0">
                <a:latin typeface="Georgia" panose="02040502050405020303" pitchFamily="18" charset="0"/>
              </a:rPr>
              <a:t>14-11-2025</a:t>
            </a:fld>
            <a:endParaRPr lang="en-IN" dirty="0">
              <a:latin typeface="Georgia" panose="02040502050405020303" pitchFamily="18" charset="0"/>
            </a:endParaRPr>
          </a:p>
        </p:txBody>
      </p:sp>
      <p:sp>
        <p:nvSpPr>
          <p:cNvPr id="5" name="Footer Placeholder 4">
            <a:extLst>
              <a:ext uri="{FF2B5EF4-FFF2-40B4-BE49-F238E27FC236}">
                <a16:creationId xmlns:a16="http://schemas.microsoft.com/office/drawing/2014/main" id="{9AA86095-2EA8-44CE-9EDF-5A05AFE2E584}"/>
              </a:ext>
            </a:extLst>
          </p:cNvPr>
          <p:cNvSpPr>
            <a:spLocks noGrp="1"/>
          </p:cNvSpPr>
          <p:nvPr>
            <p:ph type="ftr" sz="quarter" idx="11"/>
          </p:nvPr>
        </p:nvSpPr>
        <p:spPr>
          <a:xfrm>
            <a:off x="1998921" y="6356351"/>
            <a:ext cx="8272129" cy="365124"/>
          </a:xfrm>
        </p:spPr>
        <p:txBody>
          <a:bodyPr/>
          <a:lstStyle/>
          <a:p>
            <a:r>
              <a:rPr lang="en-US" dirty="0">
                <a:latin typeface="Georgia" panose="02040502050405020303" pitchFamily="18" charset="0"/>
              </a:rPr>
              <a:t>Dept. of Electronics and Telecommunication </a:t>
            </a:r>
          </a:p>
          <a:p>
            <a:r>
              <a:rPr lang="en-US" dirty="0">
                <a:latin typeface="Georgia" panose="02040502050405020303" pitchFamily="18" charset="0"/>
              </a:rPr>
              <a:t>Hope Foundation’s International Institute of Information Technology, </a:t>
            </a:r>
            <a:r>
              <a:rPr lang="en-US" dirty="0" err="1">
                <a:latin typeface="Georgia" panose="02040502050405020303" pitchFamily="18" charset="0"/>
              </a:rPr>
              <a:t>Hinjawadi</a:t>
            </a:r>
            <a:r>
              <a:rPr lang="en-US" dirty="0">
                <a:latin typeface="Georgia" panose="02040502050405020303" pitchFamily="18" charset="0"/>
              </a:rPr>
              <a:t>, Pune</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C38BB812-B607-47EF-A780-9C9FB18F8571}"/>
              </a:ext>
            </a:extLst>
          </p:cNvPr>
          <p:cNvSpPr>
            <a:spLocks noGrp="1"/>
          </p:cNvSpPr>
          <p:nvPr>
            <p:ph type="sldNum" sz="quarter" idx="12"/>
          </p:nvPr>
        </p:nvSpPr>
        <p:spPr>
          <a:xfrm>
            <a:off x="11493795" y="6356352"/>
            <a:ext cx="487326" cy="365124"/>
          </a:xfrm>
        </p:spPr>
        <p:txBody>
          <a:bodyPr/>
          <a:lstStyle/>
          <a:p>
            <a:fld id="{1C31DEBF-AE20-4689-ADFF-879AF853B401}" type="slidenum">
              <a:rPr lang="en-IN" smtClean="0">
                <a:latin typeface="Georgia" panose="02040502050405020303" pitchFamily="18" charset="0"/>
              </a:rPr>
              <a:t>4</a:t>
            </a:fld>
            <a:endParaRPr lang="en-IN" dirty="0">
              <a:latin typeface="Georgia" panose="02040502050405020303" pitchFamily="18" charset="0"/>
            </a:endParaRPr>
          </a:p>
        </p:txBody>
      </p:sp>
      <p:sp>
        <p:nvSpPr>
          <p:cNvPr id="9" name="Content Placeholder 2">
            <a:extLst>
              <a:ext uri="{FF2B5EF4-FFF2-40B4-BE49-F238E27FC236}">
                <a16:creationId xmlns:a16="http://schemas.microsoft.com/office/drawing/2014/main" id="{5D835353-1A31-463F-B4DC-811725AFF11B}"/>
              </a:ext>
            </a:extLst>
          </p:cNvPr>
          <p:cNvSpPr txBox="1">
            <a:spLocks/>
          </p:cNvSpPr>
          <p:nvPr/>
        </p:nvSpPr>
        <p:spPr>
          <a:xfrm>
            <a:off x="763772" y="153944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endParaRPr lang="en-US" sz="1400" dirty="0">
              <a:latin typeface="Georgia" panose="02040502050405020303" pitchFamily="18" charset="0"/>
            </a:endParaRPr>
          </a:p>
          <a:p>
            <a:endParaRPr lang="en-US" dirty="0">
              <a:latin typeface="Georgia" panose="02040502050405020303" pitchFamily="18" charset="0"/>
            </a:endParaRPr>
          </a:p>
        </p:txBody>
      </p:sp>
      <p:pic>
        <p:nvPicPr>
          <p:cNvPr id="10" name="Picture 9"/>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pic>
        <p:nvPicPr>
          <p:cNvPr id="42" name="Picture 41">
            <a:extLst>
              <a:ext uri="{FF2B5EF4-FFF2-40B4-BE49-F238E27FC236}">
                <a16:creationId xmlns:a16="http://schemas.microsoft.com/office/drawing/2014/main" id="{3A03A5DB-74E0-52EB-5E1E-7D544F9734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744" y="1148589"/>
            <a:ext cx="11725656" cy="5173694"/>
          </a:xfrm>
          <a:prstGeom prst="rect">
            <a:avLst/>
          </a:prstGeom>
        </p:spPr>
      </p:pic>
    </p:spTree>
    <p:extLst>
      <p:ext uri="{BB962C8B-B14F-4D97-AF65-F5344CB8AC3E}">
        <p14:creationId xmlns:p14="http://schemas.microsoft.com/office/powerpoint/2010/main" val="2891728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
            <a:extLst>
              <a:ext uri="{FF2B5EF4-FFF2-40B4-BE49-F238E27FC236}">
                <a16:creationId xmlns:a16="http://schemas.microsoft.com/office/drawing/2014/main" id="{01E5A960-88CD-A43D-2757-EBC4B0381B11}"/>
              </a:ext>
            </a:extLst>
          </p:cNvPr>
          <p:cNvPicPr>
            <a:picLocks noChangeAspect="1"/>
          </p:cNvPicPr>
          <p:nvPr/>
        </p:nvPicPr>
        <p:blipFill>
          <a:blip r:embed="rId2"/>
          <a:stretch>
            <a:fillRect/>
          </a:stretch>
        </p:blipFill>
        <p:spPr>
          <a:xfrm>
            <a:off x="8194622" y="1539450"/>
            <a:ext cx="3233606" cy="1727838"/>
          </a:xfrm>
          <a:prstGeom prst="rect">
            <a:avLst/>
          </a:prstGeom>
        </p:spPr>
      </p:pic>
      <p:sp>
        <p:nvSpPr>
          <p:cNvPr id="2" name="Title 1">
            <a:extLst>
              <a:ext uri="{FF2B5EF4-FFF2-40B4-BE49-F238E27FC236}">
                <a16:creationId xmlns:a16="http://schemas.microsoft.com/office/drawing/2014/main" id="{C1BC7C86-68EF-4B69-AED1-D0FBC3ED10E9}"/>
              </a:ext>
            </a:extLst>
          </p:cNvPr>
          <p:cNvSpPr>
            <a:spLocks noGrp="1"/>
          </p:cNvSpPr>
          <p:nvPr>
            <p:ph type="title"/>
          </p:nvPr>
        </p:nvSpPr>
        <p:spPr>
          <a:xfrm>
            <a:off x="0" y="192344"/>
            <a:ext cx="12192000" cy="881542"/>
          </a:xfrm>
        </p:spPr>
        <p:txBody>
          <a:bodyPr>
            <a:normAutofit/>
          </a:bodyPr>
          <a:lstStyle/>
          <a:p>
            <a:pPr marL="0" indent="0" algn="ctr">
              <a:lnSpc>
                <a:spcPct val="110000"/>
              </a:lnSpc>
              <a:spcBef>
                <a:spcPct val="0"/>
              </a:spcBef>
              <a:buNone/>
            </a:pPr>
            <a:r>
              <a:rPr lang="en-IN" sz="4400" b="1" dirty="0">
                <a:solidFill>
                  <a:srgbClr val="002060"/>
                </a:solidFill>
                <a:latin typeface="Georgia" panose="02040502050405020303" pitchFamily="18" charset="0"/>
                <a:ea typeface="+mj-ea"/>
                <a:cs typeface="+mj-cs"/>
              </a:rPr>
              <a:t>Gap Identification</a:t>
            </a:r>
          </a:p>
        </p:txBody>
      </p:sp>
      <p:sp>
        <p:nvSpPr>
          <p:cNvPr id="4" name="Date Placeholder 3">
            <a:extLst>
              <a:ext uri="{FF2B5EF4-FFF2-40B4-BE49-F238E27FC236}">
                <a16:creationId xmlns:a16="http://schemas.microsoft.com/office/drawing/2014/main" id="{78A9E1E1-7DB7-483B-8152-E9F02A669314}"/>
              </a:ext>
            </a:extLst>
          </p:cNvPr>
          <p:cNvSpPr>
            <a:spLocks noGrp="1"/>
          </p:cNvSpPr>
          <p:nvPr>
            <p:ph type="dt" sz="half" idx="10"/>
          </p:nvPr>
        </p:nvSpPr>
        <p:spPr>
          <a:xfrm>
            <a:off x="125818" y="6356351"/>
            <a:ext cx="1086293" cy="365124"/>
          </a:xfrm>
        </p:spPr>
        <p:txBody>
          <a:bodyPr/>
          <a:lstStyle/>
          <a:p>
            <a:fld id="{A58CC119-EF3E-4F4B-B4FC-48A3577E140C}" type="datetime1">
              <a:rPr lang="en-IN" smtClean="0">
                <a:latin typeface="Georgia" panose="02040502050405020303" pitchFamily="18" charset="0"/>
              </a:rPr>
              <a:t>14-11-2025</a:t>
            </a:fld>
            <a:endParaRPr lang="en-IN" dirty="0">
              <a:latin typeface="Georgia" panose="02040502050405020303" pitchFamily="18" charset="0"/>
            </a:endParaRPr>
          </a:p>
        </p:txBody>
      </p:sp>
      <p:sp>
        <p:nvSpPr>
          <p:cNvPr id="5" name="Footer Placeholder 4">
            <a:extLst>
              <a:ext uri="{FF2B5EF4-FFF2-40B4-BE49-F238E27FC236}">
                <a16:creationId xmlns:a16="http://schemas.microsoft.com/office/drawing/2014/main" id="{9AA86095-2EA8-44CE-9EDF-5A05AFE2E584}"/>
              </a:ext>
            </a:extLst>
          </p:cNvPr>
          <p:cNvSpPr>
            <a:spLocks noGrp="1"/>
          </p:cNvSpPr>
          <p:nvPr>
            <p:ph type="ftr" sz="quarter" idx="11"/>
          </p:nvPr>
        </p:nvSpPr>
        <p:spPr>
          <a:xfrm>
            <a:off x="1998921" y="6356351"/>
            <a:ext cx="8272129" cy="365124"/>
          </a:xfrm>
        </p:spPr>
        <p:txBody>
          <a:bodyPr/>
          <a:lstStyle/>
          <a:p>
            <a:r>
              <a:rPr lang="en-US" dirty="0">
                <a:latin typeface="Georgia" panose="02040502050405020303" pitchFamily="18" charset="0"/>
              </a:rPr>
              <a:t>Dept. of Electronics and Telecommunication </a:t>
            </a:r>
          </a:p>
          <a:p>
            <a:r>
              <a:rPr lang="en-US" dirty="0">
                <a:latin typeface="Georgia" panose="02040502050405020303" pitchFamily="18" charset="0"/>
              </a:rPr>
              <a:t>Hope Foundation’s International Institute of Information Technology, </a:t>
            </a:r>
            <a:r>
              <a:rPr lang="en-US" dirty="0" err="1">
                <a:latin typeface="Georgia" panose="02040502050405020303" pitchFamily="18" charset="0"/>
              </a:rPr>
              <a:t>Hinjawadi</a:t>
            </a:r>
            <a:r>
              <a:rPr lang="en-US" dirty="0">
                <a:latin typeface="Georgia" panose="02040502050405020303" pitchFamily="18" charset="0"/>
              </a:rPr>
              <a:t>, Pune</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C38BB812-B607-47EF-A780-9C9FB18F8571}"/>
              </a:ext>
            </a:extLst>
          </p:cNvPr>
          <p:cNvSpPr>
            <a:spLocks noGrp="1"/>
          </p:cNvSpPr>
          <p:nvPr>
            <p:ph type="sldNum" sz="quarter" idx="12"/>
          </p:nvPr>
        </p:nvSpPr>
        <p:spPr>
          <a:xfrm>
            <a:off x="11493795" y="6356352"/>
            <a:ext cx="487326" cy="365124"/>
          </a:xfrm>
        </p:spPr>
        <p:txBody>
          <a:bodyPr/>
          <a:lstStyle/>
          <a:p>
            <a:fld id="{1C31DEBF-AE20-4689-ADFF-879AF853B401}" type="slidenum">
              <a:rPr lang="en-IN" smtClean="0">
                <a:latin typeface="Georgia" panose="02040502050405020303" pitchFamily="18" charset="0"/>
              </a:rPr>
              <a:t>5</a:t>
            </a:fld>
            <a:endParaRPr lang="en-IN" dirty="0">
              <a:latin typeface="Georgia" panose="02040502050405020303" pitchFamily="18" charset="0"/>
            </a:endParaRPr>
          </a:p>
        </p:txBody>
      </p:sp>
      <p:sp>
        <p:nvSpPr>
          <p:cNvPr id="9" name="Content Placeholder 2">
            <a:extLst>
              <a:ext uri="{FF2B5EF4-FFF2-40B4-BE49-F238E27FC236}">
                <a16:creationId xmlns:a16="http://schemas.microsoft.com/office/drawing/2014/main" id="{5D835353-1A31-463F-B4DC-811725AFF11B}"/>
              </a:ext>
            </a:extLst>
          </p:cNvPr>
          <p:cNvSpPr txBox="1">
            <a:spLocks/>
          </p:cNvSpPr>
          <p:nvPr/>
        </p:nvSpPr>
        <p:spPr>
          <a:xfrm>
            <a:off x="763772" y="1148589"/>
            <a:ext cx="10515600" cy="47421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ct val="0"/>
              </a:spcBef>
              <a:buNone/>
            </a:pPr>
            <a:endParaRPr lang="en-US" sz="2000" dirty="0">
              <a:latin typeface="Georgia" panose="02040502050405020303" pitchFamily="18" charset="0"/>
            </a:endParaRPr>
          </a:p>
        </p:txBody>
      </p:sp>
      <p:pic>
        <p:nvPicPr>
          <p:cNvPr id="10" name="Picture 9"/>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sp>
        <p:nvSpPr>
          <p:cNvPr id="3" name="TextBox 2">
            <a:extLst>
              <a:ext uri="{FF2B5EF4-FFF2-40B4-BE49-F238E27FC236}">
                <a16:creationId xmlns:a16="http://schemas.microsoft.com/office/drawing/2014/main" id="{FC6A3AA8-D91C-DA03-39D6-E8EE9544CFBB}"/>
              </a:ext>
            </a:extLst>
          </p:cNvPr>
          <p:cNvSpPr txBox="1"/>
          <p:nvPr/>
        </p:nvSpPr>
        <p:spPr>
          <a:xfrm>
            <a:off x="184093" y="1795307"/>
            <a:ext cx="6466254" cy="4478149"/>
          </a:xfrm>
          <a:prstGeom prst="rect">
            <a:avLst/>
          </a:prstGeom>
          <a:noFill/>
        </p:spPr>
        <p:txBody>
          <a:bodyPr wrap="square" rtlCol="0">
            <a:spAutoFit/>
          </a:bodyPr>
          <a:lstStyle/>
          <a:p>
            <a:pPr marL="285750" indent="-285750">
              <a:lnSpc>
                <a:spcPts val="1900"/>
              </a:lnSpc>
              <a:buFont typeface="Arial" panose="020B0604020202020204" pitchFamily="34" charset="0"/>
              <a:buChar char="•"/>
            </a:pPr>
            <a:r>
              <a:rPr lang="en-US" dirty="0">
                <a:solidFill>
                  <a:srgbClr val="3C3939"/>
                </a:solidFill>
                <a:latin typeface="Georgia" panose="02040502050405020303" pitchFamily="18" charset="0"/>
                <a:ea typeface="Roboto" pitchFamily="34" charset="-122"/>
                <a:cs typeface="Roboto" pitchFamily="34" charset="-120"/>
              </a:rPr>
              <a:t>Ensures that Alzheimer's disease should be detected earlier, it can enhance quality of life and reduce Healthcare costs.</a:t>
            </a:r>
          </a:p>
          <a:p>
            <a:pPr marL="285750" indent="-285750">
              <a:lnSpc>
                <a:spcPts val="1900"/>
              </a:lnSpc>
              <a:buFont typeface="Arial" panose="020B0604020202020204" pitchFamily="34" charset="0"/>
              <a:buChar char="•"/>
            </a:pPr>
            <a:endParaRPr lang="en-US" dirty="0">
              <a:solidFill>
                <a:srgbClr val="3C3939"/>
              </a:solidFill>
              <a:latin typeface="Georgia" panose="02040502050405020303" pitchFamily="18" charset="0"/>
              <a:ea typeface="Roboto" pitchFamily="34" charset="-122"/>
              <a:cs typeface="Roboto" pitchFamily="34" charset="-120"/>
            </a:endParaRPr>
          </a:p>
          <a:p>
            <a:pPr marL="285750" indent="-285750">
              <a:lnSpc>
                <a:spcPts val="1900"/>
              </a:lnSpc>
              <a:buFont typeface="Arial" panose="020B0604020202020204" pitchFamily="34" charset="0"/>
              <a:buChar char="•"/>
            </a:pPr>
            <a:r>
              <a:rPr lang="en-US" dirty="0">
                <a:solidFill>
                  <a:srgbClr val="3C3939"/>
                </a:solidFill>
                <a:latin typeface="Georgia" panose="02040502050405020303" pitchFamily="18" charset="0"/>
                <a:ea typeface="Roboto" pitchFamily="34" charset="-122"/>
                <a:cs typeface="Roboto" pitchFamily="34" charset="-120"/>
              </a:rPr>
              <a:t>Lack of lightweight , high accuracy(approx. 95%) model for ADD.</a:t>
            </a:r>
          </a:p>
          <a:p>
            <a:pPr>
              <a:lnSpc>
                <a:spcPts val="1900"/>
              </a:lnSpc>
            </a:pPr>
            <a:endParaRPr lang="en-US" dirty="0">
              <a:solidFill>
                <a:srgbClr val="3C3939"/>
              </a:solidFill>
              <a:latin typeface="Georgia" panose="02040502050405020303" pitchFamily="18" charset="0"/>
              <a:ea typeface="Roboto" pitchFamily="34" charset="-122"/>
              <a:cs typeface="Roboto" pitchFamily="34" charset="-120"/>
            </a:endParaRPr>
          </a:p>
          <a:p>
            <a:pPr marL="285750" indent="-285750">
              <a:lnSpc>
                <a:spcPts val="1900"/>
              </a:lnSpc>
              <a:buFont typeface="Arial" panose="020B0604020202020204" pitchFamily="34" charset="0"/>
              <a:buChar char="•"/>
            </a:pPr>
            <a:r>
              <a:rPr lang="en-US" dirty="0">
                <a:solidFill>
                  <a:srgbClr val="3C3939"/>
                </a:solidFill>
                <a:latin typeface="Georgia" panose="02040502050405020303" pitchFamily="18" charset="0"/>
                <a:ea typeface="Roboto" pitchFamily="34" charset="-122"/>
                <a:cs typeface="Roboto" pitchFamily="34" charset="-120"/>
              </a:rPr>
              <a:t>Poor performance on Early/Mild cognitive stages </a:t>
            </a:r>
          </a:p>
          <a:p>
            <a:pPr>
              <a:lnSpc>
                <a:spcPts val="1900"/>
              </a:lnSpc>
            </a:pPr>
            <a:endParaRPr lang="en-US" dirty="0">
              <a:solidFill>
                <a:srgbClr val="3C3939"/>
              </a:solidFill>
              <a:latin typeface="Georgia" panose="02040502050405020303" pitchFamily="18" charset="0"/>
              <a:ea typeface="Roboto" pitchFamily="34" charset="-122"/>
              <a:cs typeface="Roboto" pitchFamily="34" charset="-120"/>
            </a:endParaRPr>
          </a:p>
          <a:p>
            <a:pPr marL="285750" indent="-285750">
              <a:lnSpc>
                <a:spcPts val="1900"/>
              </a:lnSpc>
              <a:buFont typeface="Arial" panose="020B0604020202020204" pitchFamily="34" charset="0"/>
              <a:buChar char="•"/>
            </a:pPr>
            <a:r>
              <a:rPr lang="en-US" dirty="0">
                <a:solidFill>
                  <a:srgbClr val="3C3939"/>
                </a:solidFill>
                <a:latin typeface="Georgia" panose="02040502050405020303" pitchFamily="18" charset="0"/>
                <a:ea typeface="Roboto" pitchFamily="34" charset="-122"/>
                <a:cs typeface="Roboto" pitchFamily="34" charset="-120"/>
              </a:rPr>
              <a:t>Limited privacy preserving approaches </a:t>
            </a:r>
          </a:p>
          <a:p>
            <a:pPr marL="285750" indent="-285750">
              <a:lnSpc>
                <a:spcPts val="1900"/>
              </a:lnSpc>
              <a:buFont typeface="Arial" panose="020B0604020202020204" pitchFamily="34" charset="0"/>
              <a:buChar char="•"/>
            </a:pPr>
            <a:endParaRPr lang="en-US" dirty="0">
              <a:solidFill>
                <a:srgbClr val="3C3939"/>
              </a:solidFill>
              <a:latin typeface="Georgia" panose="02040502050405020303" pitchFamily="18" charset="0"/>
              <a:ea typeface="Roboto" pitchFamily="34" charset="-122"/>
              <a:cs typeface="Roboto" pitchFamily="34" charset="-120"/>
            </a:endParaRPr>
          </a:p>
          <a:p>
            <a:pPr marL="285750" indent="-285750">
              <a:lnSpc>
                <a:spcPts val="1900"/>
              </a:lnSpc>
              <a:buFont typeface="Arial" panose="020B0604020202020204" pitchFamily="34" charset="0"/>
              <a:buChar char="•"/>
            </a:pPr>
            <a:r>
              <a:rPr lang="en-US" dirty="0">
                <a:solidFill>
                  <a:srgbClr val="3C3939"/>
                </a:solidFill>
                <a:latin typeface="Georgia" panose="02040502050405020303" pitchFamily="18" charset="0"/>
                <a:ea typeface="Roboto" pitchFamily="34" charset="-122"/>
                <a:cs typeface="Roboto" pitchFamily="34" charset="-120"/>
              </a:rPr>
              <a:t>High Computational cost and lack of real world deployment.</a:t>
            </a:r>
          </a:p>
          <a:p>
            <a:pPr marL="285750" indent="-285750">
              <a:lnSpc>
                <a:spcPts val="1900"/>
              </a:lnSpc>
              <a:buFont typeface="Arial" panose="020B0604020202020204" pitchFamily="34" charset="0"/>
              <a:buChar char="•"/>
            </a:pPr>
            <a:endParaRPr lang="en-US" dirty="0">
              <a:latin typeface="Georgia" panose="02040502050405020303" pitchFamily="18" charset="0"/>
            </a:endParaRPr>
          </a:p>
          <a:p>
            <a:pPr marL="285750" indent="-285750">
              <a:lnSpc>
                <a:spcPts val="1900"/>
              </a:lnSpc>
              <a:buFont typeface="Arial" panose="020B0604020202020204" pitchFamily="34" charset="0"/>
              <a:buChar char="•"/>
            </a:pPr>
            <a:r>
              <a:rPr lang="en-US" dirty="0" err="1">
                <a:solidFill>
                  <a:srgbClr val="3C3939"/>
                </a:solidFill>
                <a:latin typeface="Georgia" panose="02040502050405020303" pitchFamily="18" charset="0"/>
                <a:ea typeface="Roboto" pitchFamily="34" charset="-122"/>
                <a:cs typeface="Roboto" pitchFamily="34" charset="-120"/>
              </a:rPr>
              <a:t>Incompatiability</a:t>
            </a:r>
            <a:r>
              <a:rPr lang="en-US" dirty="0">
                <a:solidFill>
                  <a:srgbClr val="3C3939"/>
                </a:solidFill>
                <a:latin typeface="Georgia" panose="02040502050405020303" pitchFamily="18" charset="0"/>
                <a:ea typeface="Roboto" pitchFamily="34" charset="-122"/>
                <a:cs typeface="Roboto" pitchFamily="34" charset="-120"/>
              </a:rPr>
              <a:t> models with both mobile as well as embedded system.</a:t>
            </a:r>
          </a:p>
          <a:p>
            <a:pPr marL="285750" indent="-285750">
              <a:lnSpc>
                <a:spcPts val="1900"/>
              </a:lnSpc>
              <a:buFont typeface="Arial" panose="020B0604020202020204" pitchFamily="34" charset="0"/>
              <a:buChar char="•"/>
            </a:pPr>
            <a:endParaRPr lang="en-US" dirty="0">
              <a:latin typeface="Georgia" panose="02040502050405020303" pitchFamily="18" charset="0"/>
            </a:endParaRPr>
          </a:p>
          <a:p>
            <a:pPr marL="285750" indent="-285750">
              <a:lnSpc>
                <a:spcPts val="1900"/>
              </a:lnSpc>
              <a:buFont typeface="Arial" panose="020B0604020202020204" pitchFamily="34" charset="0"/>
              <a:buChar char="•"/>
            </a:pPr>
            <a:endParaRPr lang="en-US" dirty="0"/>
          </a:p>
        </p:txBody>
      </p:sp>
    </p:spTree>
    <p:extLst>
      <p:ext uri="{BB962C8B-B14F-4D97-AF65-F5344CB8AC3E}">
        <p14:creationId xmlns:p14="http://schemas.microsoft.com/office/powerpoint/2010/main" val="3218852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C7C86-68EF-4B69-AED1-D0FBC3ED10E9}"/>
              </a:ext>
            </a:extLst>
          </p:cNvPr>
          <p:cNvSpPr>
            <a:spLocks noGrp="1"/>
          </p:cNvSpPr>
          <p:nvPr>
            <p:ph type="title"/>
          </p:nvPr>
        </p:nvSpPr>
        <p:spPr>
          <a:xfrm>
            <a:off x="0" y="192344"/>
            <a:ext cx="12192000" cy="881542"/>
          </a:xfrm>
        </p:spPr>
        <p:txBody>
          <a:bodyPr>
            <a:normAutofit/>
          </a:bodyPr>
          <a:lstStyle/>
          <a:p>
            <a:pPr marL="0" indent="0" algn="ctr">
              <a:lnSpc>
                <a:spcPct val="110000"/>
              </a:lnSpc>
              <a:spcBef>
                <a:spcPct val="0"/>
              </a:spcBef>
              <a:buNone/>
            </a:pPr>
            <a:r>
              <a:rPr lang="en-US" sz="4400" b="1" dirty="0">
                <a:solidFill>
                  <a:srgbClr val="002060"/>
                </a:solidFill>
                <a:latin typeface="Georgia" panose="02040502050405020303" pitchFamily="18" charset="0"/>
                <a:ea typeface="+mj-ea"/>
                <a:cs typeface="+mj-cs"/>
              </a:rPr>
              <a:t>Problem statement and Objectives</a:t>
            </a:r>
          </a:p>
        </p:txBody>
      </p:sp>
      <p:sp>
        <p:nvSpPr>
          <p:cNvPr id="4" name="Date Placeholder 3">
            <a:extLst>
              <a:ext uri="{FF2B5EF4-FFF2-40B4-BE49-F238E27FC236}">
                <a16:creationId xmlns:a16="http://schemas.microsoft.com/office/drawing/2014/main" id="{78A9E1E1-7DB7-483B-8152-E9F02A669314}"/>
              </a:ext>
            </a:extLst>
          </p:cNvPr>
          <p:cNvSpPr>
            <a:spLocks noGrp="1"/>
          </p:cNvSpPr>
          <p:nvPr>
            <p:ph type="dt" sz="half" idx="10"/>
          </p:nvPr>
        </p:nvSpPr>
        <p:spPr>
          <a:xfrm>
            <a:off x="125818" y="6356351"/>
            <a:ext cx="1086293" cy="365124"/>
          </a:xfrm>
        </p:spPr>
        <p:txBody>
          <a:bodyPr/>
          <a:lstStyle/>
          <a:p>
            <a:fld id="{A58CC119-EF3E-4F4B-B4FC-48A3577E140C}" type="datetime1">
              <a:rPr lang="en-IN" smtClean="0">
                <a:latin typeface="Georgia" panose="02040502050405020303" pitchFamily="18" charset="0"/>
              </a:rPr>
              <a:t>14-11-2025</a:t>
            </a:fld>
            <a:endParaRPr lang="en-IN" dirty="0">
              <a:latin typeface="Georgia" panose="02040502050405020303" pitchFamily="18" charset="0"/>
            </a:endParaRPr>
          </a:p>
        </p:txBody>
      </p:sp>
      <p:sp>
        <p:nvSpPr>
          <p:cNvPr id="5" name="Footer Placeholder 4">
            <a:extLst>
              <a:ext uri="{FF2B5EF4-FFF2-40B4-BE49-F238E27FC236}">
                <a16:creationId xmlns:a16="http://schemas.microsoft.com/office/drawing/2014/main" id="{9AA86095-2EA8-44CE-9EDF-5A05AFE2E584}"/>
              </a:ext>
            </a:extLst>
          </p:cNvPr>
          <p:cNvSpPr>
            <a:spLocks noGrp="1"/>
          </p:cNvSpPr>
          <p:nvPr>
            <p:ph type="ftr" sz="quarter" idx="11"/>
          </p:nvPr>
        </p:nvSpPr>
        <p:spPr>
          <a:xfrm>
            <a:off x="1998921" y="6356351"/>
            <a:ext cx="8272129" cy="365124"/>
          </a:xfrm>
        </p:spPr>
        <p:txBody>
          <a:bodyPr/>
          <a:lstStyle/>
          <a:p>
            <a:r>
              <a:rPr lang="en-US" dirty="0">
                <a:latin typeface="Georgia" panose="02040502050405020303" pitchFamily="18" charset="0"/>
              </a:rPr>
              <a:t>Dept. of Electronics and Telecommunication </a:t>
            </a:r>
          </a:p>
          <a:p>
            <a:r>
              <a:rPr lang="en-US" dirty="0">
                <a:latin typeface="Georgia" panose="02040502050405020303" pitchFamily="18" charset="0"/>
              </a:rPr>
              <a:t>Hope Foundation’s International Institute of Information Technology, </a:t>
            </a:r>
            <a:r>
              <a:rPr lang="en-US" dirty="0" err="1">
                <a:latin typeface="Georgia" panose="02040502050405020303" pitchFamily="18" charset="0"/>
              </a:rPr>
              <a:t>Hinjawadi</a:t>
            </a:r>
            <a:r>
              <a:rPr lang="en-US" dirty="0">
                <a:latin typeface="Georgia" panose="02040502050405020303" pitchFamily="18" charset="0"/>
              </a:rPr>
              <a:t>, Pune</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C38BB812-B607-47EF-A780-9C9FB18F8571}"/>
              </a:ext>
            </a:extLst>
          </p:cNvPr>
          <p:cNvSpPr>
            <a:spLocks noGrp="1"/>
          </p:cNvSpPr>
          <p:nvPr>
            <p:ph type="sldNum" sz="quarter" idx="12"/>
          </p:nvPr>
        </p:nvSpPr>
        <p:spPr>
          <a:xfrm>
            <a:off x="11493795" y="6356352"/>
            <a:ext cx="487326" cy="365124"/>
          </a:xfrm>
        </p:spPr>
        <p:txBody>
          <a:bodyPr/>
          <a:lstStyle/>
          <a:p>
            <a:fld id="{1C31DEBF-AE20-4689-ADFF-879AF853B401}" type="slidenum">
              <a:rPr lang="en-IN" smtClean="0">
                <a:latin typeface="Georgia" panose="02040502050405020303" pitchFamily="18" charset="0"/>
              </a:rPr>
              <a:t>6</a:t>
            </a:fld>
            <a:endParaRPr lang="en-IN" dirty="0">
              <a:latin typeface="Georgia" panose="02040502050405020303" pitchFamily="18" charset="0"/>
            </a:endParaRPr>
          </a:p>
        </p:txBody>
      </p:sp>
      <p:sp>
        <p:nvSpPr>
          <p:cNvPr id="9" name="Content Placeholder 2">
            <a:extLst>
              <a:ext uri="{FF2B5EF4-FFF2-40B4-BE49-F238E27FC236}">
                <a16:creationId xmlns:a16="http://schemas.microsoft.com/office/drawing/2014/main" id="{5D835353-1A31-463F-B4DC-811725AFF11B}"/>
              </a:ext>
            </a:extLst>
          </p:cNvPr>
          <p:cNvSpPr txBox="1">
            <a:spLocks/>
          </p:cNvSpPr>
          <p:nvPr/>
        </p:nvSpPr>
        <p:spPr>
          <a:xfrm>
            <a:off x="763772" y="1073886"/>
            <a:ext cx="10515600" cy="481690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ct val="0"/>
              </a:spcBef>
            </a:pPr>
            <a:r>
              <a:rPr lang="en-US" sz="2800" b="1" dirty="0">
                <a:solidFill>
                  <a:srgbClr val="002060"/>
                </a:solidFill>
                <a:latin typeface="Georgia" panose="02040502050405020303" pitchFamily="18" charset="0"/>
                <a:ea typeface="+mj-ea"/>
                <a:cs typeface="+mj-cs"/>
              </a:rPr>
              <a:t>Problem statement</a:t>
            </a:r>
          </a:p>
          <a:p>
            <a:pPr marL="0" indent="0">
              <a:lnSpc>
                <a:spcPct val="110000"/>
              </a:lnSpc>
              <a:spcBef>
                <a:spcPct val="0"/>
              </a:spcBef>
              <a:buNone/>
            </a:pPr>
            <a:r>
              <a:rPr lang="en-US" sz="1800" dirty="0">
                <a:latin typeface="Georgia" panose="02040502050405020303" pitchFamily="18" charset="0"/>
              </a:rPr>
              <a:t>Alzheimer's disease (AD) is a chronic neurodegenerative disorder affecting memory, cognitive functions, and behavior, ultimately interfering with daily life. It is the most common cause of dementia worldwide and a significant public health challenge. </a:t>
            </a:r>
          </a:p>
          <a:p>
            <a:pPr marL="0" indent="0">
              <a:lnSpc>
                <a:spcPct val="110000"/>
              </a:lnSpc>
              <a:spcBef>
                <a:spcPct val="0"/>
              </a:spcBef>
              <a:buNone/>
            </a:pPr>
            <a:endParaRPr lang="en-US" sz="1800" dirty="0">
              <a:latin typeface="Georgia" panose="02040502050405020303" pitchFamily="18" charset="0"/>
            </a:endParaRPr>
          </a:p>
          <a:p>
            <a:pPr marL="0" indent="0">
              <a:lnSpc>
                <a:spcPct val="110000"/>
              </a:lnSpc>
              <a:spcBef>
                <a:spcPct val="0"/>
              </a:spcBef>
              <a:buNone/>
            </a:pPr>
            <a:r>
              <a:rPr lang="en-US" sz="1800" dirty="0">
                <a:latin typeface="Georgia" panose="02040502050405020303" pitchFamily="18" charset="0"/>
              </a:rPr>
              <a:t>Existing machine learning approaches for Alzheimer’s detection face limitations such as dependence on handcrafted feature extraction, lack of automation, and reduced accuracy in identifying early or mild cognitive impairment (MCI) stages. Additionally, small and imbalanced datasets further restrict model performance and generalization.</a:t>
            </a:r>
          </a:p>
          <a:p>
            <a:pPr marL="0" indent="0">
              <a:lnSpc>
                <a:spcPct val="110000"/>
              </a:lnSpc>
              <a:spcBef>
                <a:spcPct val="0"/>
              </a:spcBef>
              <a:buNone/>
            </a:pPr>
            <a:endParaRPr lang="en-US" sz="1800" dirty="0">
              <a:latin typeface="Georgia" panose="02040502050405020303" pitchFamily="18" charset="0"/>
            </a:endParaRPr>
          </a:p>
          <a:p>
            <a:pPr>
              <a:lnSpc>
                <a:spcPct val="110000"/>
              </a:lnSpc>
              <a:spcBef>
                <a:spcPct val="0"/>
              </a:spcBef>
            </a:pPr>
            <a:r>
              <a:rPr lang="en-US" sz="2800" b="1" dirty="0">
                <a:solidFill>
                  <a:srgbClr val="002060"/>
                </a:solidFill>
                <a:latin typeface="Georgia" panose="02040502050405020303" pitchFamily="18" charset="0"/>
                <a:ea typeface="+mj-ea"/>
                <a:cs typeface="+mj-cs"/>
              </a:rPr>
              <a:t>Objectives</a:t>
            </a:r>
          </a:p>
          <a:p>
            <a:pPr marL="0" indent="0">
              <a:lnSpc>
                <a:spcPct val="110000"/>
              </a:lnSpc>
              <a:spcBef>
                <a:spcPct val="0"/>
              </a:spcBef>
              <a:buNone/>
            </a:pPr>
            <a:endParaRPr lang="en-US" sz="2800" b="1" dirty="0">
              <a:solidFill>
                <a:srgbClr val="002060"/>
              </a:solidFill>
              <a:latin typeface="Georgia" panose="02040502050405020303" pitchFamily="18" charset="0"/>
              <a:ea typeface="+mj-ea"/>
              <a:cs typeface="+mj-cs"/>
            </a:endParaRPr>
          </a:p>
          <a:p>
            <a:pPr marL="0" indent="0">
              <a:lnSpc>
                <a:spcPct val="110000"/>
              </a:lnSpc>
              <a:spcBef>
                <a:spcPct val="0"/>
              </a:spcBef>
              <a:buNone/>
            </a:pPr>
            <a:r>
              <a:rPr lang="en-IN" sz="1900" dirty="0">
                <a:latin typeface="Georgia" panose="02040502050405020303" pitchFamily="18" charset="0"/>
              </a:rPr>
              <a:t>• </a:t>
            </a:r>
            <a:r>
              <a:rPr lang="en-US" sz="1900" dirty="0">
                <a:latin typeface="Georgia" panose="02040502050405020303" pitchFamily="18" charset="0"/>
              </a:rPr>
              <a:t>To </a:t>
            </a:r>
            <a:r>
              <a:rPr lang="en-US" sz="1900" b="1" dirty="0">
                <a:latin typeface="Georgia" panose="02040502050405020303" pitchFamily="18" charset="0"/>
              </a:rPr>
              <a:t>develop a </a:t>
            </a:r>
            <a:r>
              <a:rPr lang="en-US" sz="1900" b="1" dirty="0" err="1">
                <a:latin typeface="Georgia" panose="02040502050405020303" pitchFamily="18" charset="0"/>
              </a:rPr>
              <a:t>MobileNet</a:t>
            </a:r>
            <a:r>
              <a:rPr lang="en-US" sz="1900" b="1" dirty="0">
                <a:latin typeface="Georgia" panose="02040502050405020303" pitchFamily="18" charset="0"/>
              </a:rPr>
              <a:t>-based deep learning model</a:t>
            </a:r>
            <a:r>
              <a:rPr lang="en-US" sz="1900" dirty="0">
                <a:latin typeface="Georgia" panose="02040502050405020303" pitchFamily="18" charset="0"/>
              </a:rPr>
              <a:t> capable of detecting Alzheimer’s disease at early stages from brain imaging (e.g., MRI).</a:t>
            </a:r>
          </a:p>
          <a:p>
            <a:pPr marL="0" indent="0">
              <a:lnSpc>
                <a:spcPct val="110000"/>
              </a:lnSpc>
              <a:spcBef>
                <a:spcPct val="0"/>
              </a:spcBef>
              <a:buNone/>
            </a:pPr>
            <a:endParaRPr lang="en-IN" sz="1900" dirty="0">
              <a:latin typeface="Georgia" panose="02040502050405020303" pitchFamily="18" charset="0"/>
            </a:endParaRPr>
          </a:p>
          <a:p>
            <a:pPr marL="0" indent="0">
              <a:lnSpc>
                <a:spcPct val="110000"/>
              </a:lnSpc>
              <a:spcBef>
                <a:spcPct val="0"/>
              </a:spcBef>
              <a:buNone/>
            </a:pPr>
            <a:r>
              <a:rPr lang="en-IN" sz="1900" dirty="0">
                <a:latin typeface="Georgia" panose="02040502050405020303" pitchFamily="18" charset="0"/>
              </a:rPr>
              <a:t>• Improve diagnostic accuracy over traditional CNN models like VGG, </a:t>
            </a:r>
            <a:r>
              <a:rPr lang="en-IN" sz="1900" dirty="0" err="1">
                <a:latin typeface="Georgia" panose="02040502050405020303" pitchFamily="18" charset="0"/>
              </a:rPr>
              <a:t>AlexNet</a:t>
            </a:r>
            <a:r>
              <a:rPr lang="en-IN" sz="1900" dirty="0">
                <a:latin typeface="Georgia" panose="02040502050405020303" pitchFamily="18" charset="0"/>
              </a:rPr>
              <a:t>, </a:t>
            </a:r>
            <a:r>
              <a:rPr lang="en-IN" sz="1900" dirty="0" err="1">
                <a:latin typeface="Georgia" panose="02040502050405020303" pitchFamily="18" charset="0"/>
              </a:rPr>
              <a:t>ResetNet</a:t>
            </a:r>
            <a:r>
              <a:rPr lang="en-IN" sz="1900" dirty="0">
                <a:latin typeface="Georgia" panose="02040502050405020303" pitchFamily="18" charset="0"/>
              </a:rPr>
              <a:t> and </a:t>
            </a:r>
            <a:r>
              <a:rPr lang="en-IN" sz="1900" dirty="0" err="1">
                <a:latin typeface="Georgia" panose="02040502050405020303" pitchFamily="18" charset="0"/>
              </a:rPr>
              <a:t>DenseNet</a:t>
            </a:r>
            <a:r>
              <a:rPr lang="en-IN" sz="1900" dirty="0">
                <a:latin typeface="Georgia" panose="02040502050405020303" pitchFamily="18" charset="0"/>
              </a:rPr>
              <a:t> by using </a:t>
            </a:r>
            <a:r>
              <a:rPr lang="en-IN" sz="1900" dirty="0" err="1">
                <a:latin typeface="Georgia" panose="02040502050405020303" pitchFamily="18" charset="0"/>
              </a:rPr>
              <a:t>MobileNet</a:t>
            </a:r>
            <a:r>
              <a:rPr lang="en-IN" sz="1900" dirty="0">
                <a:latin typeface="Georgia" panose="02040502050405020303" pitchFamily="18" charset="0"/>
              </a:rPr>
              <a:t> residual learning. </a:t>
            </a:r>
          </a:p>
          <a:p>
            <a:pPr marL="0" indent="0">
              <a:lnSpc>
                <a:spcPct val="110000"/>
              </a:lnSpc>
              <a:spcBef>
                <a:spcPct val="0"/>
              </a:spcBef>
              <a:buNone/>
            </a:pPr>
            <a:endParaRPr lang="en-IN" sz="1900" dirty="0">
              <a:latin typeface="Georgia" panose="02040502050405020303" pitchFamily="18" charset="0"/>
            </a:endParaRPr>
          </a:p>
          <a:p>
            <a:pPr marL="0" indent="0">
              <a:lnSpc>
                <a:spcPct val="110000"/>
              </a:lnSpc>
              <a:spcBef>
                <a:spcPct val="0"/>
              </a:spcBef>
              <a:buNone/>
            </a:pPr>
            <a:r>
              <a:rPr lang="en-IN" sz="1900" dirty="0">
                <a:latin typeface="Georgia" panose="02040502050405020303" pitchFamily="18" charset="0"/>
              </a:rPr>
              <a:t>• Detect early stages such as Mild Cognitive Impairment (MCI) to enable timely intervention and improve patient outcomes.</a:t>
            </a:r>
          </a:p>
          <a:p>
            <a:pPr marL="0" indent="0">
              <a:lnSpc>
                <a:spcPct val="110000"/>
              </a:lnSpc>
              <a:spcBef>
                <a:spcPct val="0"/>
              </a:spcBef>
              <a:buNone/>
            </a:pPr>
            <a:endParaRPr lang="en-IN" sz="1900" dirty="0">
              <a:latin typeface="Georgia" panose="02040502050405020303" pitchFamily="18" charset="0"/>
            </a:endParaRPr>
          </a:p>
          <a:p>
            <a:pPr marL="0" indent="0">
              <a:lnSpc>
                <a:spcPct val="110000"/>
              </a:lnSpc>
              <a:spcBef>
                <a:spcPct val="0"/>
              </a:spcBef>
              <a:buNone/>
            </a:pPr>
            <a:r>
              <a:rPr lang="en-IN" sz="1900" dirty="0">
                <a:latin typeface="Georgia" panose="02040502050405020303" pitchFamily="18" charset="0"/>
              </a:rPr>
              <a:t> •Ensure high </a:t>
            </a:r>
            <a:r>
              <a:rPr lang="en-US" sz="2000" dirty="0">
                <a:solidFill>
                  <a:srgbClr val="3C3939"/>
                </a:solidFill>
                <a:latin typeface="Georgia" panose="02040502050405020303" pitchFamily="18" charset="0"/>
                <a:ea typeface="Roboto" pitchFamily="34" charset="-122"/>
                <a:cs typeface="Roboto" pitchFamily="34" charset="-120"/>
              </a:rPr>
              <a:t>accuracy, sensitivity, and specificity</a:t>
            </a:r>
            <a:endParaRPr lang="en-US" dirty="0">
              <a:latin typeface="Georgia" panose="02040502050405020303" pitchFamily="18" charset="0"/>
            </a:endParaRPr>
          </a:p>
        </p:txBody>
      </p:sp>
      <p:pic>
        <p:nvPicPr>
          <p:cNvPr id="10" name="Picture 9"/>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spTree>
    <p:extLst>
      <p:ext uri="{BB962C8B-B14F-4D97-AF65-F5344CB8AC3E}">
        <p14:creationId xmlns:p14="http://schemas.microsoft.com/office/powerpoint/2010/main" val="465693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C7C86-68EF-4B69-AED1-D0FBC3ED10E9}"/>
              </a:ext>
            </a:extLst>
          </p:cNvPr>
          <p:cNvSpPr>
            <a:spLocks noGrp="1"/>
          </p:cNvSpPr>
          <p:nvPr>
            <p:ph type="title"/>
          </p:nvPr>
        </p:nvSpPr>
        <p:spPr>
          <a:xfrm>
            <a:off x="0" y="192344"/>
            <a:ext cx="12192000" cy="881542"/>
          </a:xfrm>
        </p:spPr>
        <p:txBody>
          <a:bodyPr>
            <a:normAutofit/>
          </a:bodyPr>
          <a:lstStyle/>
          <a:p>
            <a:pPr marL="0" indent="0" algn="ctr">
              <a:lnSpc>
                <a:spcPct val="110000"/>
              </a:lnSpc>
              <a:spcBef>
                <a:spcPct val="0"/>
              </a:spcBef>
              <a:buNone/>
            </a:pPr>
            <a:r>
              <a:rPr lang="en-IN" sz="4400" b="1" dirty="0">
                <a:solidFill>
                  <a:srgbClr val="002060"/>
                </a:solidFill>
                <a:latin typeface="Georgia" panose="02040502050405020303" pitchFamily="18" charset="0"/>
                <a:ea typeface="+mj-ea"/>
                <a:cs typeface="+mj-cs"/>
              </a:rPr>
              <a:t>Proposed Methodology</a:t>
            </a:r>
            <a:endParaRPr lang="en-US" sz="4400" b="1" dirty="0">
              <a:solidFill>
                <a:srgbClr val="002060"/>
              </a:solidFill>
              <a:latin typeface="Georgia" panose="02040502050405020303" pitchFamily="18" charset="0"/>
              <a:ea typeface="+mj-ea"/>
              <a:cs typeface="+mj-cs"/>
            </a:endParaRPr>
          </a:p>
        </p:txBody>
      </p:sp>
      <p:sp>
        <p:nvSpPr>
          <p:cNvPr id="4" name="Date Placeholder 3">
            <a:extLst>
              <a:ext uri="{FF2B5EF4-FFF2-40B4-BE49-F238E27FC236}">
                <a16:creationId xmlns:a16="http://schemas.microsoft.com/office/drawing/2014/main" id="{78A9E1E1-7DB7-483B-8152-E9F02A669314}"/>
              </a:ext>
            </a:extLst>
          </p:cNvPr>
          <p:cNvSpPr>
            <a:spLocks noGrp="1"/>
          </p:cNvSpPr>
          <p:nvPr>
            <p:ph type="dt" sz="half" idx="10"/>
          </p:nvPr>
        </p:nvSpPr>
        <p:spPr>
          <a:xfrm>
            <a:off x="125818" y="6356351"/>
            <a:ext cx="1086293" cy="365124"/>
          </a:xfrm>
        </p:spPr>
        <p:txBody>
          <a:bodyPr/>
          <a:lstStyle/>
          <a:p>
            <a:fld id="{A58CC119-EF3E-4F4B-B4FC-48A3577E140C}" type="datetime1">
              <a:rPr lang="en-IN" smtClean="0">
                <a:latin typeface="Georgia" panose="02040502050405020303" pitchFamily="18" charset="0"/>
              </a:rPr>
              <a:t>14-11-2025</a:t>
            </a:fld>
            <a:endParaRPr lang="en-IN" dirty="0">
              <a:latin typeface="Georgia" panose="02040502050405020303" pitchFamily="18" charset="0"/>
            </a:endParaRPr>
          </a:p>
        </p:txBody>
      </p:sp>
      <p:sp>
        <p:nvSpPr>
          <p:cNvPr id="5" name="Footer Placeholder 4">
            <a:extLst>
              <a:ext uri="{FF2B5EF4-FFF2-40B4-BE49-F238E27FC236}">
                <a16:creationId xmlns:a16="http://schemas.microsoft.com/office/drawing/2014/main" id="{9AA86095-2EA8-44CE-9EDF-5A05AFE2E584}"/>
              </a:ext>
            </a:extLst>
          </p:cNvPr>
          <p:cNvSpPr>
            <a:spLocks noGrp="1"/>
          </p:cNvSpPr>
          <p:nvPr>
            <p:ph type="ftr" sz="quarter" idx="11"/>
          </p:nvPr>
        </p:nvSpPr>
        <p:spPr>
          <a:xfrm>
            <a:off x="1998921" y="6356351"/>
            <a:ext cx="8272129" cy="365124"/>
          </a:xfrm>
        </p:spPr>
        <p:txBody>
          <a:bodyPr/>
          <a:lstStyle/>
          <a:p>
            <a:r>
              <a:rPr lang="en-US" dirty="0">
                <a:latin typeface="Georgia" panose="02040502050405020303" pitchFamily="18" charset="0"/>
              </a:rPr>
              <a:t>Dept. of Electronics and Telecommunication </a:t>
            </a:r>
          </a:p>
          <a:p>
            <a:r>
              <a:rPr lang="en-US" dirty="0">
                <a:latin typeface="Georgia" panose="02040502050405020303" pitchFamily="18" charset="0"/>
              </a:rPr>
              <a:t>Hope Foundation’s International Institute of Information Technology, </a:t>
            </a:r>
            <a:r>
              <a:rPr lang="en-US" dirty="0" err="1">
                <a:latin typeface="Georgia" panose="02040502050405020303" pitchFamily="18" charset="0"/>
              </a:rPr>
              <a:t>Hinjawadi</a:t>
            </a:r>
            <a:r>
              <a:rPr lang="en-US" dirty="0">
                <a:latin typeface="Georgia" panose="02040502050405020303" pitchFamily="18" charset="0"/>
              </a:rPr>
              <a:t>, Pune</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C38BB812-B607-47EF-A780-9C9FB18F8571}"/>
              </a:ext>
            </a:extLst>
          </p:cNvPr>
          <p:cNvSpPr>
            <a:spLocks noGrp="1"/>
          </p:cNvSpPr>
          <p:nvPr>
            <p:ph type="sldNum" sz="quarter" idx="12"/>
          </p:nvPr>
        </p:nvSpPr>
        <p:spPr>
          <a:xfrm>
            <a:off x="11493795" y="6356352"/>
            <a:ext cx="487326" cy="365124"/>
          </a:xfrm>
        </p:spPr>
        <p:txBody>
          <a:bodyPr/>
          <a:lstStyle/>
          <a:p>
            <a:fld id="{1C31DEBF-AE20-4689-ADFF-879AF853B401}" type="slidenum">
              <a:rPr lang="en-IN" smtClean="0">
                <a:latin typeface="Georgia" panose="02040502050405020303" pitchFamily="18" charset="0"/>
              </a:rPr>
              <a:t>7</a:t>
            </a:fld>
            <a:endParaRPr lang="en-IN" dirty="0">
              <a:latin typeface="Georgia" panose="02040502050405020303" pitchFamily="18" charset="0"/>
            </a:endParaRPr>
          </a:p>
        </p:txBody>
      </p:sp>
      <p:sp>
        <p:nvSpPr>
          <p:cNvPr id="9" name="Content Placeholder 2">
            <a:extLst>
              <a:ext uri="{FF2B5EF4-FFF2-40B4-BE49-F238E27FC236}">
                <a16:creationId xmlns:a16="http://schemas.microsoft.com/office/drawing/2014/main" id="{5D835353-1A31-463F-B4DC-811725AFF11B}"/>
              </a:ext>
            </a:extLst>
          </p:cNvPr>
          <p:cNvSpPr txBox="1">
            <a:spLocks/>
          </p:cNvSpPr>
          <p:nvPr/>
        </p:nvSpPr>
        <p:spPr>
          <a:xfrm>
            <a:off x="763772" y="153944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800" b="1" dirty="0">
              <a:solidFill>
                <a:srgbClr val="002060"/>
              </a:solidFill>
              <a:latin typeface="Georgia" panose="02040502050405020303" pitchFamily="18" charset="0"/>
              <a:ea typeface="+mj-ea"/>
              <a:cs typeface="+mj-cs"/>
            </a:endParaRPr>
          </a:p>
          <a:p>
            <a:pPr marL="0" indent="0">
              <a:buNone/>
            </a:pPr>
            <a:endParaRPr lang="en-US" sz="1400" dirty="0">
              <a:latin typeface="Georgia" panose="02040502050405020303" pitchFamily="18" charset="0"/>
            </a:endParaRPr>
          </a:p>
          <a:p>
            <a:endParaRPr lang="en-US" dirty="0">
              <a:latin typeface="Georgia" panose="02040502050405020303" pitchFamily="18" charset="0"/>
            </a:endParaRPr>
          </a:p>
        </p:txBody>
      </p:sp>
      <p:pic>
        <p:nvPicPr>
          <p:cNvPr id="10" name="Picture 9"/>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pic>
        <p:nvPicPr>
          <p:cNvPr id="7" name="Picture 6">
            <a:extLst>
              <a:ext uri="{FF2B5EF4-FFF2-40B4-BE49-F238E27FC236}">
                <a16:creationId xmlns:a16="http://schemas.microsoft.com/office/drawing/2014/main" id="{6BDFEE43-9319-17E8-1531-E4FD746838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6988" y="1128749"/>
            <a:ext cx="3155956" cy="4449091"/>
          </a:xfrm>
          <a:prstGeom prst="rect">
            <a:avLst/>
          </a:prstGeom>
        </p:spPr>
      </p:pic>
    </p:spTree>
    <p:extLst>
      <p:ext uri="{BB962C8B-B14F-4D97-AF65-F5344CB8AC3E}">
        <p14:creationId xmlns:p14="http://schemas.microsoft.com/office/powerpoint/2010/main" val="1867659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C7C86-68EF-4B69-AED1-D0FBC3ED10E9}"/>
              </a:ext>
            </a:extLst>
          </p:cNvPr>
          <p:cNvSpPr>
            <a:spLocks noGrp="1"/>
          </p:cNvSpPr>
          <p:nvPr>
            <p:ph type="title"/>
          </p:nvPr>
        </p:nvSpPr>
        <p:spPr>
          <a:xfrm>
            <a:off x="0" y="192344"/>
            <a:ext cx="12192000" cy="881542"/>
          </a:xfrm>
        </p:spPr>
        <p:txBody>
          <a:bodyPr>
            <a:normAutofit/>
          </a:bodyPr>
          <a:lstStyle/>
          <a:p>
            <a:pPr marL="0" indent="0" algn="ctr">
              <a:lnSpc>
                <a:spcPct val="110000"/>
              </a:lnSpc>
              <a:spcBef>
                <a:spcPct val="0"/>
              </a:spcBef>
              <a:buNone/>
            </a:pPr>
            <a:r>
              <a:rPr lang="en-IN" sz="4400" b="1" dirty="0">
                <a:solidFill>
                  <a:srgbClr val="002060"/>
                </a:solidFill>
                <a:latin typeface="Georgia" panose="02040502050405020303" pitchFamily="18" charset="0"/>
                <a:ea typeface="+mj-ea"/>
                <a:cs typeface="+mj-cs"/>
              </a:rPr>
              <a:t>Proposed </a:t>
            </a:r>
            <a:r>
              <a:rPr lang="en-US" sz="4400" b="1" dirty="0">
                <a:solidFill>
                  <a:srgbClr val="002060"/>
                </a:solidFill>
                <a:latin typeface="Georgia" panose="02040502050405020303" pitchFamily="18" charset="0"/>
                <a:ea typeface="+mj-ea"/>
                <a:cs typeface="+mj-cs"/>
              </a:rPr>
              <a:t>Requirement analysis</a:t>
            </a:r>
          </a:p>
        </p:txBody>
      </p:sp>
      <p:sp>
        <p:nvSpPr>
          <p:cNvPr id="4" name="Date Placeholder 3">
            <a:extLst>
              <a:ext uri="{FF2B5EF4-FFF2-40B4-BE49-F238E27FC236}">
                <a16:creationId xmlns:a16="http://schemas.microsoft.com/office/drawing/2014/main" id="{78A9E1E1-7DB7-483B-8152-E9F02A669314}"/>
              </a:ext>
            </a:extLst>
          </p:cNvPr>
          <p:cNvSpPr>
            <a:spLocks noGrp="1"/>
          </p:cNvSpPr>
          <p:nvPr>
            <p:ph type="dt" sz="half" idx="10"/>
          </p:nvPr>
        </p:nvSpPr>
        <p:spPr>
          <a:xfrm>
            <a:off x="125818" y="6356351"/>
            <a:ext cx="1086293" cy="365124"/>
          </a:xfrm>
        </p:spPr>
        <p:txBody>
          <a:bodyPr/>
          <a:lstStyle/>
          <a:p>
            <a:fld id="{A58CC119-EF3E-4F4B-B4FC-48A3577E140C}" type="datetime1">
              <a:rPr lang="en-IN" smtClean="0">
                <a:latin typeface="Georgia" panose="02040502050405020303" pitchFamily="18" charset="0"/>
              </a:rPr>
              <a:t>14-11-2025</a:t>
            </a:fld>
            <a:endParaRPr lang="en-IN" dirty="0">
              <a:latin typeface="Georgia" panose="02040502050405020303" pitchFamily="18" charset="0"/>
            </a:endParaRPr>
          </a:p>
        </p:txBody>
      </p:sp>
      <p:sp>
        <p:nvSpPr>
          <p:cNvPr id="5" name="Footer Placeholder 4">
            <a:extLst>
              <a:ext uri="{FF2B5EF4-FFF2-40B4-BE49-F238E27FC236}">
                <a16:creationId xmlns:a16="http://schemas.microsoft.com/office/drawing/2014/main" id="{9AA86095-2EA8-44CE-9EDF-5A05AFE2E584}"/>
              </a:ext>
            </a:extLst>
          </p:cNvPr>
          <p:cNvSpPr>
            <a:spLocks noGrp="1"/>
          </p:cNvSpPr>
          <p:nvPr>
            <p:ph type="ftr" sz="quarter" idx="11"/>
          </p:nvPr>
        </p:nvSpPr>
        <p:spPr>
          <a:xfrm>
            <a:off x="1998921" y="6356351"/>
            <a:ext cx="8272129" cy="365124"/>
          </a:xfrm>
        </p:spPr>
        <p:txBody>
          <a:bodyPr/>
          <a:lstStyle/>
          <a:p>
            <a:r>
              <a:rPr lang="en-US" dirty="0">
                <a:latin typeface="Georgia" panose="02040502050405020303" pitchFamily="18" charset="0"/>
              </a:rPr>
              <a:t>Dept. of Electronics and Telecommunication </a:t>
            </a:r>
          </a:p>
          <a:p>
            <a:r>
              <a:rPr lang="en-US" dirty="0">
                <a:latin typeface="Georgia" panose="02040502050405020303" pitchFamily="18" charset="0"/>
              </a:rPr>
              <a:t>Hope Foundation’s International Institute of Information Technology, </a:t>
            </a:r>
            <a:r>
              <a:rPr lang="en-US" dirty="0" err="1">
                <a:latin typeface="Georgia" panose="02040502050405020303" pitchFamily="18" charset="0"/>
              </a:rPr>
              <a:t>Hinjawadi</a:t>
            </a:r>
            <a:r>
              <a:rPr lang="en-US" dirty="0">
                <a:latin typeface="Georgia" panose="02040502050405020303" pitchFamily="18" charset="0"/>
              </a:rPr>
              <a:t>, Pune</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C38BB812-B607-47EF-A780-9C9FB18F8571}"/>
              </a:ext>
            </a:extLst>
          </p:cNvPr>
          <p:cNvSpPr>
            <a:spLocks noGrp="1"/>
          </p:cNvSpPr>
          <p:nvPr>
            <p:ph type="sldNum" sz="quarter" idx="12"/>
          </p:nvPr>
        </p:nvSpPr>
        <p:spPr>
          <a:xfrm>
            <a:off x="11493795" y="6356352"/>
            <a:ext cx="487326" cy="365124"/>
          </a:xfrm>
        </p:spPr>
        <p:txBody>
          <a:bodyPr/>
          <a:lstStyle/>
          <a:p>
            <a:fld id="{1C31DEBF-AE20-4689-ADFF-879AF853B401}" type="slidenum">
              <a:rPr lang="en-IN" smtClean="0">
                <a:latin typeface="Georgia" panose="02040502050405020303" pitchFamily="18" charset="0"/>
              </a:rPr>
              <a:t>8</a:t>
            </a:fld>
            <a:endParaRPr lang="en-IN" dirty="0">
              <a:latin typeface="Georgia" panose="02040502050405020303" pitchFamily="18" charset="0"/>
            </a:endParaRPr>
          </a:p>
        </p:txBody>
      </p:sp>
      <p:sp>
        <p:nvSpPr>
          <p:cNvPr id="9" name="Content Placeholder 2">
            <a:extLst>
              <a:ext uri="{FF2B5EF4-FFF2-40B4-BE49-F238E27FC236}">
                <a16:creationId xmlns:a16="http://schemas.microsoft.com/office/drawing/2014/main" id="{5D835353-1A31-463F-B4DC-811725AFF11B}"/>
              </a:ext>
            </a:extLst>
          </p:cNvPr>
          <p:cNvSpPr txBox="1">
            <a:spLocks/>
          </p:cNvSpPr>
          <p:nvPr/>
        </p:nvSpPr>
        <p:spPr>
          <a:xfrm>
            <a:off x="763772" y="1539449"/>
            <a:ext cx="1051560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ct val="0"/>
              </a:spcBef>
              <a:buNone/>
            </a:pPr>
            <a:r>
              <a:rPr lang="en-IN" sz="2000" b="1" dirty="0">
                <a:latin typeface="Georgia" panose="02040502050405020303" pitchFamily="18" charset="0"/>
              </a:rPr>
              <a:t>Requirements of Resources Hardware</a:t>
            </a:r>
            <a:r>
              <a:rPr lang="en-IN" sz="2000" dirty="0"/>
              <a:t>: 9 1 • High-performance GPU (e.g., NVIDIA GTX/RTX series) for deep learning training. • Minimum 16 GB RAM and sufficient storage to handle large datasets. </a:t>
            </a:r>
          </a:p>
          <a:p>
            <a:pPr marL="0" indent="0">
              <a:lnSpc>
                <a:spcPct val="110000"/>
              </a:lnSpc>
              <a:spcBef>
                <a:spcPct val="0"/>
              </a:spcBef>
              <a:buNone/>
            </a:pPr>
            <a:endParaRPr lang="en-IN" sz="2000" dirty="0"/>
          </a:p>
          <a:p>
            <a:pPr marL="0" indent="0">
              <a:lnSpc>
                <a:spcPct val="110000"/>
              </a:lnSpc>
              <a:spcBef>
                <a:spcPct val="0"/>
              </a:spcBef>
              <a:buNone/>
            </a:pPr>
            <a:r>
              <a:rPr lang="en-IN" sz="2000" b="1" dirty="0">
                <a:latin typeface="Georgia" panose="02040502050405020303" pitchFamily="18" charset="0"/>
              </a:rPr>
              <a:t>Software:</a:t>
            </a:r>
          </a:p>
          <a:p>
            <a:pPr>
              <a:lnSpc>
                <a:spcPct val="110000"/>
              </a:lnSpc>
              <a:spcBef>
                <a:spcPct val="0"/>
              </a:spcBef>
            </a:pPr>
            <a:r>
              <a:rPr lang="en-IN" sz="2000" dirty="0"/>
              <a:t> Deep learning frameworks: TensorFlow, </a:t>
            </a:r>
            <a:r>
              <a:rPr lang="en-IN" sz="2000" dirty="0" err="1"/>
              <a:t>Keras</a:t>
            </a:r>
            <a:r>
              <a:rPr lang="en-IN" sz="2000" dirty="0"/>
              <a:t>, or </a:t>
            </a:r>
            <a:r>
              <a:rPr lang="en-IN" sz="2000" dirty="0" err="1"/>
              <a:t>PyTorch</a:t>
            </a:r>
            <a:r>
              <a:rPr lang="en-IN" sz="2000" dirty="0"/>
              <a:t> for implementing </a:t>
            </a:r>
            <a:r>
              <a:rPr lang="en-IN" sz="2000" dirty="0" err="1"/>
              <a:t>MobileNET</a:t>
            </a:r>
            <a:r>
              <a:rPr lang="en-IN" sz="2000" dirty="0"/>
              <a:t>. </a:t>
            </a:r>
          </a:p>
          <a:p>
            <a:pPr>
              <a:lnSpc>
                <a:spcPct val="110000"/>
              </a:lnSpc>
              <a:spcBef>
                <a:spcPct val="0"/>
              </a:spcBef>
            </a:pPr>
            <a:r>
              <a:rPr lang="en-IN" sz="2000" dirty="0"/>
              <a:t>Data processing libraries: Pandas, NumPy, OpenCV (for image data), Scikit learn. </a:t>
            </a:r>
          </a:p>
          <a:p>
            <a:pPr>
              <a:lnSpc>
                <a:spcPct val="110000"/>
              </a:lnSpc>
              <a:spcBef>
                <a:spcPct val="0"/>
              </a:spcBef>
            </a:pPr>
            <a:r>
              <a:rPr lang="en-IN" sz="2000" dirty="0"/>
              <a:t>Visualization tools: Matplotlib, Seaborn, or </a:t>
            </a:r>
            <a:r>
              <a:rPr lang="en-IN" sz="2000" dirty="0" err="1"/>
              <a:t>Plotly</a:t>
            </a:r>
            <a:r>
              <a:rPr lang="en-IN" sz="2000" dirty="0"/>
              <a:t> for charts and dashboards.</a:t>
            </a:r>
          </a:p>
          <a:p>
            <a:pPr marL="0" indent="0">
              <a:lnSpc>
                <a:spcPct val="110000"/>
              </a:lnSpc>
              <a:spcBef>
                <a:spcPct val="0"/>
              </a:spcBef>
              <a:buNone/>
            </a:pPr>
            <a:endParaRPr lang="en-IN" sz="2000" dirty="0"/>
          </a:p>
          <a:p>
            <a:pPr marL="0" indent="0">
              <a:lnSpc>
                <a:spcPct val="110000"/>
              </a:lnSpc>
              <a:spcBef>
                <a:spcPct val="0"/>
              </a:spcBef>
              <a:buNone/>
            </a:pPr>
            <a:r>
              <a:rPr lang="en-IN" sz="2000" dirty="0"/>
              <a:t>Data: </a:t>
            </a:r>
          </a:p>
          <a:p>
            <a:pPr marL="0" indent="0">
              <a:lnSpc>
                <a:spcPct val="110000"/>
              </a:lnSpc>
              <a:spcBef>
                <a:spcPct val="0"/>
              </a:spcBef>
              <a:buNone/>
            </a:pPr>
            <a:r>
              <a:rPr lang="en-IN" sz="2000" dirty="0"/>
              <a:t>• Historical datasets from public repositories or industry sources. </a:t>
            </a:r>
          </a:p>
          <a:p>
            <a:pPr marL="0" indent="0">
              <a:lnSpc>
                <a:spcPct val="110000"/>
              </a:lnSpc>
              <a:spcBef>
                <a:spcPct val="0"/>
              </a:spcBef>
              <a:buNone/>
            </a:pPr>
            <a:r>
              <a:rPr lang="en-IN" sz="2000" dirty="0"/>
              <a:t>• Properly </a:t>
            </a:r>
            <a:r>
              <a:rPr lang="en-IN" sz="2000" dirty="0" err="1"/>
              <a:t>labeled</a:t>
            </a:r>
            <a:r>
              <a:rPr lang="en-IN" sz="2000" dirty="0"/>
              <a:t> data for effective training and validation of the model.</a:t>
            </a:r>
          </a:p>
          <a:p>
            <a:pPr>
              <a:lnSpc>
                <a:spcPct val="110000"/>
              </a:lnSpc>
              <a:spcBef>
                <a:spcPct val="0"/>
              </a:spcBef>
            </a:pPr>
            <a:r>
              <a:rPr lang="en-IN" sz="2000" dirty="0"/>
              <a:t>ADNI Dataset </a:t>
            </a:r>
          </a:p>
          <a:p>
            <a:pPr marL="0" indent="0">
              <a:lnSpc>
                <a:spcPct val="110000"/>
              </a:lnSpc>
              <a:spcBef>
                <a:spcPct val="0"/>
              </a:spcBef>
              <a:buNone/>
            </a:pPr>
            <a:endParaRPr lang="en-IN" sz="2000" dirty="0"/>
          </a:p>
          <a:p>
            <a:pPr marL="0" indent="0">
              <a:lnSpc>
                <a:spcPct val="110000"/>
              </a:lnSpc>
              <a:spcBef>
                <a:spcPct val="0"/>
              </a:spcBef>
              <a:buNone/>
            </a:pPr>
            <a:r>
              <a:rPr lang="en-IN" sz="2000" dirty="0"/>
              <a:t>Platforms / Tools:</a:t>
            </a:r>
          </a:p>
          <a:p>
            <a:pPr marL="0" indent="0">
              <a:lnSpc>
                <a:spcPct val="110000"/>
              </a:lnSpc>
              <a:spcBef>
                <a:spcPct val="0"/>
              </a:spcBef>
              <a:buNone/>
            </a:pPr>
            <a:r>
              <a:rPr lang="en-IN" sz="2000" dirty="0"/>
              <a:t> • Cloud platforms like Google Colab, AWS, or Azure for scalable computation.</a:t>
            </a:r>
          </a:p>
          <a:p>
            <a:pPr marL="0" indent="0">
              <a:lnSpc>
                <a:spcPct val="110000"/>
              </a:lnSpc>
              <a:spcBef>
                <a:spcPct val="0"/>
              </a:spcBef>
              <a:buNone/>
            </a:pPr>
            <a:r>
              <a:rPr lang="en-IN" sz="2000" dirty="0"/>
              <a:t> • Version control tools like GitHub for code management</a:t>
            </a: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800" b="1" dirty="0">
              <a:solidFill>
                <a:srgbClr val="002060"/>
              </a:solidFill>
              <a:latin typeface="Georgia" panose="02040502050405020303" pitchFamily="18" charset="0"/>
              <a:ea typeface="+mj-ea"/>
              <a:cs typeface="+mj-cs"/>
            </a:endParaRPr>
          </a:p>
          <a:p>
            <a:pPr marL="0" indent="0">
              <a:buNone/>
            </a:pPr>
            <a:endParaRPr lang="en-US" sz="1400" dirty="0">
              <a:latin typeface="Georgia" panose="02040502050405020303" pitchFamily="18" charset="0"/>
            </a:endParaRPr>
          </a:p>
          <a:p>
            <a:endParaRPr lang="en-US" dirty="0">
              <a:latin typeface="Georgia" panose="02040502050405020303" pitchFamily="18" charset="0"/>
            </a:endParaRPr>
          </a:p>
        </p:txBody>
      </p:sp>
      <p:pic>
        <p:nvPicPr>
          <p:cNvPr id="10" name="Picture 9"/>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spTree>
    <p:extLst>
      <p:ext uri="{BB962C8B-B14F-4D97-AF65-F5344CB8AC3E}">
        <p14:creationId xmlns:p14="http://schemas.microsoft.com/office/powerpoint/2010/main" val="43305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C7C86-68EF-4B69-AED1-D0FBC3ED10E9}"/>
              </a:ext>
            </a:extLst>
          </p:cNvPr>
          <p:cNvSpPr>
            <a:spLocks noGrp="1"/>
          </p:cNvSpPr>
          <p:nvPr>
            <p:ph type="title"/>
          </p:nvPr>
        </p:nvSpPr>
        <p:spPr>
          <a:xfrm>
            <a:off x="0" y="192344"/>
            <a:ext cx="12192000" cy="881542"/>
          </a:xfrm>
        </p:spPr>
        <p:txBody>
          <a:bodyPr>
            <a:normAutofit/>
          </a:bodyPr>
          <a:lstStyle/>
          <a:p>
            <a:pPr marL="0" indent="0" algn="ctr">
              <a:lnSpc>
                <a:spcPct val="110000"/>
              </a:lnSpc>
              <a:spcBef>
                <a:spcPct val="0"/>
              </a:spcBef>
              <a:buNone/>
            </a:pPr>
            <a:r>
              <a:rPr lang="en-US" sz="4400" b="1" dirty="0">
                <a:solidFill>
                  <a:srgbClr val="002060"/>
                </a:solidFill>
                <a:latin typeface="Georgia" panose="02040502050405020303" pitchFamily="18" charset="0"/>
                <a:ea typeface="+mj-ea"/>
                <a:cs typeface="+mj-cs"/>
              </a:rPr>
              <a:t>Impact analysis</a:t>
            </a:r>
          </a:p>
        </p:txBody>
      </p:sp>
      <p:sp>
        <p:nvSpPr>
          <p:cNvPr id="4" name="Date Placeholder 3">
            <a:extLst>
              <a:ext uri="{FF2B5EF4-FFF2-40B4-BE49-F238E27FC236}">
                <a16:creationId xmlns:a16="http://schemas.microsoft.com/office/drawing/2014/main" id="{78A9E1E1-7DB7-483B-8152-E9F02A669314}"/>
              </a:ext>
            </a:extLst>
          </p:cNvPr>
          <p:cNvSpPr>
            <a:spLocks noGrp="1"/>
          </p:cNvSpPr>
          <p:nvPr>
            <p:ph type="dt" sz="half" idx="10"/>
          </p:nvPr>
        </p:nvSpPr>
        <p:spPr>
          <a:xfrm>
            <a:off x="125818" y="6356351"/>
            <a:ext cx="1086293" cy="365124"/>
          </a:xfrm>
        </p:spPr>
        <p:txBody>
          <a:bodyPr/>
          <a:lstStyle/>
          <a:p>
            <a:fld id="{A58CC119-EF3E-4F4B-B4FC-48A3577E140C}" type="datetime1">
              <a:rPr lang="en-IN" smtClean="0">
                <a:latin typeface="Georgia" panose="02040502050405020303" pitchFamily="18" charset="0"/>
              </a:rPr>
              <a:t>14-11-2025</a:t>
            </a:fld>
            <a:endParaRPr lang="en-IN" dirty="0">
              <a:latin typeface="Georgia" panose="02040502050405020303" pitchFamily="18" charset="0"/>
            </a:endParaRPr>
          </a:p>
        </p:txBody>
      </p:sp>
      <p:sp>
        <p:nvSpPr>
          <p:cNvPr id="5" name="Footer Placeholder 4">
            <a:extLst>
              <a:ext uri="{FF2B5EF4-FFF2-40B4-BE49-F238E27FC236}">
                <a16:creationId xmlns:a16="http://schemas.microsoft.com/office/drawing/2014/main" id="{9AA86095-2EA8-44CE-9EDF-5A05AFE2E584}"/>
              </a:ext>
            </a:extLst>
          </p:cNvPr>
          <p:cNvSpPr>
            <a:spLocks noGrp="1"/>
          </p:cNvSpPr>
          <p:nvPr>
            <p:ph type="ftr" sz="quarter" idx="11"/>
          </p:nvPr>
        </p:nvSpPr>
        <p:spPr>
          <a:xfrm>
            <a:off x="1998921" y="6356351"/>
            <a:ext cx="8272129" cy="365124"/>
          </a:xfrm>
        </p:spPr>
        <p:txBody>
          <a:bodyPr/>
          <a:lstStyle/>
          <a:p>
            <a:r>
              <a:rPr lang="en-US" dirty="0">
                <a:latin typeface="Georgia" panose="02040502050405020303" pitchFamily="18" charset="0"/>
              </a:rPr>
              <a:t>Dept. of Electronics and Telecommunication </a:t>
            </a:r>
          </a:p>
          <a:p>
            <a:r>
              <a:rPr lang="en-US" dirty="0">
                <a:latin typeface="Georgia" panose="02040502050405020303" pitchFamily="18" charset="0"/>
              </a:rPr>
              <a:t>Hope Foundation’s International Institute of Information Technology, </a:t>
            </a:r>
            <a:r>
              <a:rPr lang="en-US" dirty="0" err="1">
                <a:latin typeface="Georgia" panose="02040502050405020303" pitchFamily="18" charset="0"/>
              </a:rPr>
              <a:t>Hinjawadi</a:t>
            </a:r>
            <a:r>
              <a:rPr lang="en-US" dirty="0">
                <a:latin typeface="Georgia" panose="02040502050405020303" pitchFamily="18" charset="0"/>
              </a:rPr>
              <a:t>, Pune</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C38BB812-B607-47EF-A780-9C9FB18F8571}"/>
              </a:ext>
            </a:extLst>
          </p:cNvPr>
          <p:cNvSpPr>
            <a:spLocks noGrp="1"/>
          </p:cNvSpPr>
          <p:nvPr>
            <p:ph type="sldNum" sz="quarter" idx="12"/>
          </p:nvPr>
        </p:nvSpPr>
        <p:spPr>
          <a:xfrm>
            <a:off x="11493795" y="6356352"/>
            <a:ext cx="487326" cy="365124"/>
          </a:xfrm>
        </p:spPr>
        <p:txBody>
          <a:bodyPr/>
          <a:lstStyle/>
          <a:p>
            <a:fld id="{1C31DEBF-AE20-4689-ADFF-879AF853B401}" type="slidenum">
              <a:rPr lang="en-IN" smtClean="0">
                <a:latin typeface="Georgia" panose="02040502050405020303" pitchFamily="18" charset="0"/>
              </a:rPr>
              <a:t>9</a:t>
            </a:fld>
            <a:endParaRPr lang="en-IN" dirty="0">
              <a:latin typeface="Georgia" panose="02040502050405020303" pitchFamily="18" charset="0"/>
            </a:endParaRPr>
          </a:p>
        </p:txBody>
      </p:sp>
      <p:sp>
        <p:nvSpPr>
          <p:cNvPr id="9" name="Content Placeholder 2">
            <a:extLst>
              <a:ext uri="{FF2B5EF4-FFF2-40B4-BE49-F238E27FC236}">
                <a16:creationId xmlns:a16="http://schemas.microsoft.com/office/drawing/2014/main" id="{5D835353-1A31-463F-B4DC-811725AFF11B}"/>
              </a:ext>
            </a:extLst>
          </p:cNvPr>
          <p:cNvSpPr txBox="1">
            <a:spLocks/>
          </p:cNvSpPr>
          <p:nvPr/>
        </p:nvSpPr>
        <p:spPr>
          <a:xfrm>
            <a:off x="838200" y="1266230"/>
            <a:ext cx="10515600" cy="462455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10000"/>
              </a:lnSpc>
              <a:spcBef>
                <a:spcPct val="0"/>
              </a:spcBef>
              <a:buAutoNum type="alphaLcPeriod"/>
            </a:pPr>
            <a:r>
              <a:rPr lang="en-US" sz="2000" b="1" dirty="0">
                <a:latin typeface="Georgia" panose="02040502050405020303" pitchFamily="18" charset="0"/>
              </a:rPr>
              <a:t>Positive Impact of Project on Environment: </a:t>
            </a:r>
          </a:p>
          <a:p>
            <a:pPr marL="0" indent="0">
              <a:lnSpc>
                <a:spcPct val="110000"/>
              </a:lnSpc>
              <a:spcBef>
                <a:spcPct val="0"/>
              </a:spcBef>
              <a:buNone/>
            </a:pPr>
            <a:r>
              <a:rPr lang="en-US" sz="2000" dirty="0"/>
              <a:t>• </a:t>
            </a:r>
            <a:r>
              <a:rPr lang="en-US" sz="2000" dirty="0">
                <a:latin typeface="Georgia" panose="02040502050405020303" pitchFamily="18" charset="0"/>
              </a:rPr>
              <a:t>Energy Efficiency: By optimizing processes and predicting events early, the system can reduce unnecessary energy consumption. </a:t>
            </a:r>
          </a:p>
          <a:p>
            <a:pPr marL="0" indent="0">
              <a:lnSpc>
                <a:spcPct val="110000"/>
              </a:lnSpc>
              <a:spcBef>
                <a:spcPct val="0"/>
              </a:spcBef>
              <a:buNone/>
            </a:pPr>
            <a:r>
              <a:rPr lang="en-US" sz="2000" dirty="0">
                <a:latin typeface="Georgia" panose="02040502050405020303" pitchFamily="18" charset="0"/>
              </a:rPr>
              <a:t>• Waste Reduction: Accurate detection and prediction can help minimize resource wastage in industrial or operational processes.</a:t>
            </a:r>
          </a:p>
          <a:p>
            <a:pPr marL="0" indent="0">
              <a:lnSpc>
                <a:spcPct val="110000"/>
              </a:lnSpc>
              <a:spcBef>
                <a:spcPct val="0"/>
              </a:spcBef>
              <a:buNone/>
            </a:pPr>
            <a:r>
              <a:rPr lang="en-US" sz="2000" dirty="0">
                <a:latin typeface="Georgia" panose="02040502050405020303" pitchFamily="18" charset="0"/>
              </a:rPr>
              <a:t> • Monitoring Environmental Parameters: If integrated with sensors, the system can track environmental data, contributing to better environmental management.</a:t>
            </a:r>
          </a:p>
          <a:p>
            <a:pPr marL="0" indent="0">
              <a:lnSpc>
                <a:spcPct val="110000"/>
              </a:lnSpc>
              <a:spcBef>
                <a:spcPct val="0"/>
              </a:spcBef>
              <a:buNone/>
            </a:pPr>
            <a:endParaRPr lang="en-US" sz="2000" b="1" dirty="0">
              <a:latin typeface="Georgia" panose="02040502050405020303" pitchFamily="18" charset="0"/>
            </a:endParaRPr>
          </a:p>
          <a:p>
            <a:pPr marL="0" indent="0">
              <a:lnSpc>
                <a:spcPct val="110000"/>
              </a:lnSpc>
              <a:spcBef>
                <a:spcPct val="0"/>
              </a:spcBef>
              <a:buNone/>
            </a:pPr>
            <a:r>
              <a:rPr lang="en-US" sz="2000" b="1" dirty="0">
                <a:latin typeface="Georgia" panose="02040502050405020303" pitchFamily="18" charset="0"/>
              </a:rPr>
              <a:t> b. Negative Impact of Project on Environment: </a:t>
            </a:r>
          </a:p>
          <a:p>
            <a:pPr>
              <a:lnSpc>
                <a:spcPct val="110000"/>
              </a:lnSpc>
              <a:spcBef>
                <a:spcPct val="0"/>
              </a:spcBef>
            </a:pPr>
            <a:r>
              <a:rPr lang="en-US" sz="2000" dirty="0">
                <a:latin typeface="Georgia" panose="02040502050405020303" pitchFamily="18" charset="0"/>
              </a:rPr>
              <a:t>Electronic Waste: Deployment of additional hardware and sensors may contribute to e-waste if not properly managed. </a:t>
            </a:r>
          </a:p>
          <a:p>
            <a:pPr>
              <a:lnSpc>
                <a:spcPct val="110000"/>
              </a:lnSpc>
              <a:spcBef>
                <a:spcPct val="0"/>
              </a:spcBef>
            </a:pPr>
            <a:r>
              <a:rPr lang="en-US" sz="2000" dirty="0">
                <a:latin typeface="Georgia" panose="02040502050405020303" pitchFamily="18" charset="0"/>
              </a:rPr>
              <a:t>Energy Consumption: High computational requirements for training deep learning models (like </a:t>
            </a:r>
            <a:r>
              <a:rPr lang="en-US" sz="2000" dirty="0" err="1">
                <a:latin typeface="Georgia" panose="02040502050405020303" pitchFamily="18" charset="0"/>
              </a:rPr>
              <a:t>MobileNet</a:t>
            </a:r>
            <a:r>
              <a:rPr lang="en-US" sz="2000" dirty="0">
                <a:latin typeface="Georgia" panose="02040502050405020303" pitchFamily="18" charset="0"/>
              </a:rPr>
              <a:t>) can consume significant electricity. </a:t>
            </a:r>
          </a:p>
          <a:p>
            <a:pPr>
              <a:lnSpc>
                <a:spcPct val="110000"/>
              </a:lnSpc>
              <a:spcBef>
                <a:spcPct val="0"/>
              </a:spcBef>
            </a:pPr>
            <a:r>
              <a:rPr lang="en-US" sz="2000" dirty="0">
                <a:latin typeface="Georgia" panose="02040502050405020303" pitchFamily="18" charset="0"/>
              </a:rPr>
              <a:t>Resource Usage: Large-scale data storage and processing can increase environmental footprint due to server and cooling requirements.</a:t>
            </a:r>
            <a:endParaRPr lang="en-IN"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800" b="1" dirty="0">
              <a:solidFill>
                <a:srgbClr val="002060"/>
              </a:solidFill>
              <a:latin typeface="Georgia" panose="02040502050405020303" pitchFamily="18" charset="0"/>
              <a:ea typeface="+mj-ea"/>
              <a:cs typeface="+mj-cs"/>
            </a:endParaRPr>
          </a:p>
          <a:p>
            <a:pPr marL="0" indent="0">
              <a:buNone/>
            </a:pPr>
            <a:endParaRPr lang="en-US" sz="1400" dirty="0">
              <a:latin typeface="Georgia" panose="02040502050405020303" pitchFamily="18" charset="0"/>
            </a:endParaRPr>
          </a:p>
          <a:p>
            <a:endParaRPr lang="en-US" dirty="0">
              <a:latin typeface="Georgia" panose="02040502050405020303" pitchFamily="18" charset="0"/>
            </a:endParaRPr>
          </a:p>
        </p:txBody>
      </p:sp>
      <p:pic>
        <p:nvPicPr>
          <p:cNvPr id="10" name="Picture 9"/>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spTree>
    <p:extLst>
      <p:ext uri="{BB962C8B-B14F-4D97-AF65-F5344CB8AC3E}">
        <p14:creationId xmlns:p14="http://schemas.microsoft.com/office/powerpoint/2010/main" val="18884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C7C86-68EF-4B69-AED1-D0FBC3ED10E9}"/>
              </a:ext>
            </a:extLst>
          </p:cNvPr>
          <p:cNvSpPr>
            <a:spLocks noGrp="1"/>
          </p:cNvSpPr>
          <p:nvPr>
            <p:ph type="title"/>
          </p:nvPr>
        </p:nvSpPr>
        <p:spPr>
          <a:xfrm>
            <a:off x="0" y="192343"/>
            <a:ext cx="12192000" cy="1172755"/>
          </a:xfrm>
        </p:spPr>
        <p:txBody>
          <a:bodyPr>
            <a:normAutofit fontScale="90000"/>
          </a:bodyPr>
          <a:lstStyle/>
          <a:p>
            <a:pPr marL="0" indent="0" algn="ctr">
              <a:lnSpc>
                <a:spcPct val="110000"/>
              </a:lnSpc>
              <a:spcBef>
                <a:spcPct val="0"/>
              </a:spcBef>
              <a:buNone/>
            </a:pPr>
            <a:r>
              <a:rPr lang="en-US" sz="4400" b="1" dirty="0">
                <a:solidFill>
                  <a:srgbClr val="002060"/>
                </a:solidFill>
                <a:latin typeface="Georgia" panose="02040502050405020303" pitchFamily="18" charset="0"/>
                <a:ea typeface="+mj-ea"/>
                <a:cs typeface="+mj-cs"/>
              </a:rPr>
              <a:t>Professional Ethical practices </a:t>
            </a:r>
            <a:br>
              <a:rPr lang="en-US" sz="4400" b="1" dirty="0">
                <a:solidFill>
                  <a:srgbClr val="002060"/>
                </a:solidFill>
                <a:latin typeface="Georgia" panose="02040502050405020303" pitchFamily="18" charset="0"/>
                <a:ea typeface="+mj-ea"/>
                <a:cs typeface="+mj-cs"/>
              </a:rPr>
            </a:br>
            <a:r>
              <a:rPr lang="en-US" sz="4400" b="1" dirty="0">
                <a:solidFill>
                  <a:srgbClr val="002060"/>
                </a:solidFill>
                <a:latin typeface="Georgia" panose="02040502050405020303" pitchFamily="18" charset="0"/>
                <a:ea typeface="+mj-ea"/>
                <a:cs typeface="+mj-cs"/>
              </a:rPr>
              <a:t>to be followed</a:t>
            </a:r>
          </a:p>
        </p:txBody>
      </p:sp>
      <p:sp>
        <p:nvSpPr>
          <p:cNvPr id="4" name="Date Placeholder 3">
            <a:extLst>
              <a:ext uri="{FF2B5EF4-FFF2-40B4-BE49-F238E27FC236}">
                <a16:creationId xmlns:a16="http://schemas.microsoft.com/office/drawing/2014/main" id="{78A9E1E1-7DB7-483B-8152-E9F02A669314}"/>
              </a:ext>
            </a:extLst>
          </p:cNvPr>
          <p:cNvSpPr>
            <a:spLocks noGrp="1"/>
          </p:cNvSpPr>
          <p:nvPr>
            <p:ph type="dt" sz="half" idx="10"/>
          </p:nvPr>
        </p:nvSpPr>
        <p:spPr>
          <a:xfrm>
            <a:off x="125818" y="6356351"/>
            <a:ext cx="1086293" cy="365124"/>
          </a:xfrm>
        </p:spPr>
        <p:txBody>
          <a:bodyPr/>
          <a:lstStyle/>
          <a:p>
            <a:fld id="{A58CC119-EF3E-4F4B-B4FC-48A3577E140C}" type="datetime1">
              <a:rPr lang="en-IN" smtClean="0">
                <a:latin typeface="Georgia" panose="02040502050405020303" pitchFamily="18" charset="0"/>
              </a:rPr>
              <a:t>14-11-2025</a:t>
            </a:fld>
            <a:endParaRPr lang="en-IN" dirty="0">
              <a:latin typeface="Georgia" panose="02040502050405020303" pitchFamily="18" charset="0"/>
            </a:endParaRPr>
          </a:p>
        </p:txBody>
      </p:sp>
      <p:sp>
        <p:nvSpPr>
          <p:cNvPr id="5" name="Footer Placeholder 4">
            <a:extLst>
              <a:ext uri="{FF2B5EF4-FFF2-40B4-BE49-F238E27FC236}">
                <a16:creationId xmlns:a16="http://schemas.microsoft.com/office/drawing/2014/main" id="{9AA86095-2EA8-44CE-9EDF-5A05AFE2E584}"/>
              </a:ext>
            </a:extLst>
          </p:cNvPr>
          <p:cNvSpPr>
            <a:spLocks noGrp="1"/>
          </p:cNvSpPr>
          <p:nvPr>
            <p:ph type="ftr" sz="quarter" idx="11"/>
          </p:nvPr>
        </p:nvSpPr>
        <p:spPr>
          <a:xfrm>
            <a:off x="1998921" y="6356351"/>
            <a:ext cx="8272129" cy="365124"/>
          </a:xfrm>
        </p:spPr>
        <p:txBody>
          <a:bodyPr/>
          <a:lstStyle/>
          <a:p>
            <a:r>
              <a:rPr lang="en-US" dirty="0">
                <a:latin typeface="Georgia" panose="02040502050405020303" pitchFamily="18" charset="0"/>
              </a:rPr>
              <a:t>Dept. of Electronics and Telecommunication </a:t>
            </a:r>
          </a:p>
          <a:p>
            <a:r>
              <a:rPr lang="en-US" dirty="0">
                <a:latin typeface="Georgia" panose="02040502050405020303" pitchFamily="18" charset="0"/>
              </a:rPr>
              <a:t>Hope Foundation’s International Institute of Information Technology, </a:t>
            </a:r>
            <a:r>
              <a:rPr lang="en-US" dirty="0" err="1">
                <a:latin typeface="Georgia" panose="02040502050405020303" pitchFamily="18" charset="0"/>
              </a:rPr>
              <a:t>Hinjawadi</a:t>
            </a:r>
            <a:r>
              <a:rPr lang="en-US" dirty="0">
                <a:latin typeface="Georgia" panose="02040502050405020303" pitchFamily="18" charset="0"/>
              </a:rPr>
              <a:t>, Pune</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C38BB812-B607-47EF-A780-9C9FB18F8571}"/>
              </a:ext>
            </a:extLst>
          </p:cNvPr>
          <p:cNvSpPr>
            <a:spLocks noGrp="1"/>
          </p:cNvSpPr>
          <p:nvPr>
            <p:ph type="sldNum" sz="quarter" idx="12"/>
          </p:nvPr>
        </p:nvSpPr>
        <p:spPr>
          <a:xfrm>
            <a:off x="11493795" y="6356352"/>
            <a:ext cx="487326" cy="365124"/>
          </a:xfrm>
        </p:spPr>
        <p:txBody>
          <a:bodyPr/>
          <a:lstStyle/>
          <a:p>
            <a:fld id="{1C31DEBF-AE20-4689-ADFF-879AF853B401}" type="slidenum">
              <a:rPr lang="en-IN" smtClean="0">
                <a:latin typeface="Georgia" panose="02040502050405020303" pitchFamily="18" charset="0"/>
              </a:rPr>
              <a:t>10</a:t>
            </a:fld>
            <a:endParaRPr lang="en-IN" dirty="0">
              <a:latin typeface="Georgia" panose="02040502050405020303" pitchFamily="18" charset="0"/>
            </a:endParaRPr>
          </a:p>
        </p:txBody>
      </p:sp>
      <p:sp>
        <p:nvSpPr>
          <p:cNvPr id="9" name="Content Placeholder 2">
            <a:extLst>
              <a:ext uri="{FF2B5EF4-FFF2-40B4-BE49-F238E27FC236}">
                <a16:creationId xmlns:a16="http://schemas.microsoft.com/office/drawing/2014/main" id="{5D835353-1A31-463F-B4DC-811725AFF11B}"/>
              </a:ext>
            </a:extLst>
          </p:cNvPr>
          <p:cNvSpPr txBox="1">
            <a:spLocks/>
          </p:cNvSpPr>
          <p:nvPr/>
        </p:nvSpPr>
        <p:spPr>
          <a:xfrm>
            <a:off x="253409" y="165714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800" b="1" dirty="0">
              <a:solidFill>
                <a:srgbClr val="002060"/>
              </a:solidFill>
              <a:latin typeface="Georgia" panose="02040502050405020303" pitchFamily="18" charset="0"/>
              <a:ea typeface="+mj-ea"/>
              <a:cs typeface="+mj-cs"/>
            </a:endParaRPr>
          </a:p>
          <a:p>
            <a:pPr marL="0" indent="0">
              <a:buNone/>
            </a:pPr>
            <a:endParaRPr lang="en-US" sz="1400" dirty="0">
              <a:latin typeface="Georgia" panose="02040502050405020303" pitchFamily="18" charset="0"/>
            </a:endParaRPr>
          </a:p>
          <a:p>
            <a:endParaRPr lang="en-US" dirty="0">
              <a:latin typeface="Georgia" panose="02040502050405020303" pitchFamily="18" charset="0"/>
            </a:endParaRPr>
          </a:p>
        </p:txBody>
      </p:sp>
      <p:pic>
        <p:nvPicPr>
          <p:cNvPr id="10" name="Picture 9"/>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sp>
        <p:nvSpPr>
          <p:cNvPr id="13" name="TextBox 12">
            <a:extLst>
              <a:ext uri="{FF2B5EF4-FFF2-40B4-BE49-F238E27FC236}">
                <a16:creationId xmlns:a16="http://schemas.microsoft.com/office/drawing/2014/main" id="{98023067-EFFE-AFCF-58C2-915339A7FF6B}"/>
              </a:ext>
            </a:extLst>
          </p:cNvPr>
          <p:cNvSpPr txBox="1"/>
          <p:nvPr/>
        </p:nvSpPr>
        <p:spPr>
          <a:xfrm>
            <a:off x="974785" y="1557440"/>
            <a:ext cx="10291313" cy="4801314"/>
          </a:xfrm>
          <a:prstGeom prst="rect">
            <a:avLst/>
          </a:prstGeom>
          <a:noFill/>
        </p:spPr>
        <p:txBody>
          <a:bodyPr wrap="square">
            <a:spAutoFit/>
          </a:bodyPr>
          <a:lstStyle/>
          <a:p>
            <a:r>
              <a:rPr lang="en-US" b="1" dirty="0">
                <a:latin typeface="Georgia" panose="02040502050405020303" pitchFamily="18" charset="0"/>
              </a:rPr>
              <a:t>Professional </a:t>
            </a:r>
            <a:r>
              <a:rPr lang="en-US" b="1" dirty="0" err="1">
                <a:latin typeface="Georgia" panose="02040502050405020303" pitchFamily="18" charset="0"/>
              </a:rPr>
              <a:t>Ethics</a:t>
            </a:r>
            <a:r>
              <a:rPr lang="en-US" dirty="0" err="1">
                <a:latin typeface="Georgia" panose="02040502050405020303" pitchFamily="18" charset="0"/>
              </a:rPr>
              <a:t>:The</a:t>
            </a:r>
            <a:r>
              <a:rPr lang="en-US" dirty="0">
                <a:latin typeface="Georgia" panose="02040502050405020303" pitchFamily="18" charset="0"/>
              </a:rPr>
              <a:t> project upholds honesty, transparency, and integrity in all phases of design, implementation, and </a:t>
            </a:r>
            <a:r>
              <a:rPr lang="en-US" dirty="0" err="1">
                <a:latin typeface="Georgia" panose="02040502050405020303" pitchFamily="18" charset="0"/>
              </a:rPr>
              <a:t>reporting.No</a:t>
            </a:r>
            <a:r>
              <a:rPr lang="en-US" dirty="0">
                <a:latin typeface="Georgia" panose="02040502050405020303" pitchFamily="18" charset="0"/>
              </a:rPr>
              <a:t> manipulation of data, results, or algorithms has been done, and all references, datasets, and tools used are duly </a:t>
            </a:r>
            <a:r>
              <a:rPr lang="en-US" dirty="0" err="1">
                <a:latin typeface="Georgia" panose="02040502050405020303" pitchFamily="18" charset="0"/>
              </a:rPr>
              <a:t>acknowledged.The</a:t>
            </a:r>
            <a:r>
              <a:rPr lang="en-US" dirty="0">
                <a:latin typeface="Georgia" panose="02040502050405020303" pitchFamily="18" charset="0"/>
              </a:rPr>
              <a:t> system is designed solely for academic and research purposes, respecting privacy and confidentiality of any medical data used.</a:t>
            </a:r>
          </a:p>
          <a:p>
            <a:endParaRPr lang="en-US" b="1" dirty="0">
              <a:latin typeface="Georgia" panose="02040502050405020303" pitchFamily="18" charset="0"/>
            </a:endParaRPr>
          </a:p>
          <a:p>
            <a:r>
              <a:rPr lang="en-US" b="1" dirty="0">
                <a:latin typeface="Georgia" panose="02040502050405020303" pitchFamily="18" charset="0"/>
              </a:rPr>
              <a:t>Professional </a:t>
            </a:r>
            <a:r>
              <a:rPr lang="en-US" b="1" dirty="0" err="1">
                <a:latin typeface="Georgia" panose="02040502050405020303" pitchFamily="18" charset="0"/>
              </a:rPr>
              <a:t>Responsibilities</a:t>
            </a:r>
            <a:r>
              <a:rPr lang="en-US" dirty="0" err="1">
                <a:latin typeface="Georgia" panose="02040502050405020303" pitchFamily="18" charset="0"/>
              </a:rPr>
              <a:t>:The</a:t>
            </a:r>
            <a:r>
              <a:rPr lang="en-US" dirty="0">
                <a:latin typeface="Georgia" panose="02040502050405020303" pitchFamily="18" charset="0"/>
              </a:rPr>
              <a:t> responsibility of ensuring data privacy and patient confidentiality is strictly followed, in accordance with ethical guidelines for handling biomedical </a:t>
            </a:r>
            <a:r>
              <a:rPr lang="en-US" dirty="0" err="1">
                <a:latin typeface="Georgia" panose="02040502050405020303" pitchFamily="18" charset="0"/>
              </a:rPr>
              <a:t>data.The</a:t>
            </a:r>
            <a:r>
              <a:rPr lang="en-US" dirty="0">
                <a:latin typeface="Georgia" panose="02040502050405020303" pitchFamily="18" charset="0"/>
              </a:rPr>
              <a:t> model’s predictions are intended to support medical experts, not replace them, thereby maintaining responsible use of AI in </a:t>
            </a:r>
            <a:r>
              <a:rPr lang="en-US" dirty="0" err="1">
                <a:latin typeface="Georgia" panose="02040502050405020303" pitchFamily="18" charset="0"/>
              </a:rPr>
              <a:t>healthcare.The</a:t>
            </a:r>
            <a:r>
              <a:rPr lang="en-US" dirty="0">
                <a:latin typeface="Georgia" panose="02040502050405020303" pitchFamily="18" charset="0"/>
              </a:rPr>
              <a:t> team commits to continuous learning, updating the system based on new technological and ethical standards.</a:t>
            </a:r>
          </a:p>
          <a:p>
            <a:endParaRPr lang="en-US" dirty="0">
              <a:latin typeface="Georgia" panose="02040502050405020303" pitchFamily="18" charset="0"/>
            </a:endParaRPr>
          </a:p>
          <a:p>
            <a:r>
              <a:rPr lang="en-US" b="1" dirty="0">
                <a:latin typeface="Georgia" panose="02040502050405020303" pitchFamily="18" charset="0"/>
              </a:rPr>
              <a:t>Engineering Norms and Best </a:t>
            </a:r>
            <a:r>
              <a:rPr lang="en-US" b="1" dirty="0" err="1">
                <a:latin typeface="Georgia" panose="02040502050405020303" pitchFamily="18" charset="0"/>
              </a:rPr>
              <a:t>Practices</a:t>
            </a:r>
            <a:r>
              <a:rPr lang="en-US" dirty="0" err="1">
                <a:latin typeface="Georgia" panose="02040502050405020303" pitchFamily="18" charset="0"/>
              </a:rPr>
              <a:t>:Standard</a:t>
            </a:r>
            <a:r>
              <a:rPr lang="en-US" dirty="0">
                <a:latin typeface="Georgia" panose="02040502050405020303" pitchFamily="18" charset="0"/>
              </a:rPr>
              <a:t> software engineering practices are followed, including modular design, documentation, version control, and code reliability </a:t>
            </a:r>
            <a:r>
              <a:rPr lang="en-US" dirty="0" err="1">
                <a:latin typeface="Georgia" panose="02040502050405020303" pitchFamily="18" charset="0"/>
              </a:rPr>
              <a:t>testing.Compliance</a:t>
            </a:r>
            <a:r>
              <a:rPr lang="en-US" dirty="0">
                <a:latin typeface="Georgia" panose="02040502050405020303" pitchFamily="18" charset="0"/>
              </a:rPr>
              <a:t> with AI and software development standards such as IEEE and ISO guidelines ensures system robustness and </a:t>
            </a:r>
            <a:r>
              <a:rPr lang="en-US" dirty="0" err="1">
                <a:latin typeface="Georgia" panose="02040502050405020303" pitchFamily="18" charset="0"/>
              </a:rPr>
              <a:t>safety.The</a:t>
            </a:r>
            <a:r>
              <a:rPr lang="en-US" dirty="0">
                <a:latin typeface="Georgia" panose="02040502050405020303" pitchFamily="18" charset="0"/>
              </a:rPr>
              <a:t> project emphasizes sustainability, fairness, and accountability, ensuring that the technology benefits society without bias or misuse.</a:t>
            </a:r>
            <a:endParaRPr lang="en-IN" dirty="0">
              <a:latin typeface="Georgia" panose="02040502050405020303" pitchFamily="18" charset="0"/>
            </a:endParaRPr>
          </a:p>
        </p:txBody>
      </p:sp>
    </p:spTree>
    <p:extLst>
      <p:ext uri="{BB962C8B-B14F-4D97-AF65-F5344CB8AC3E}">
        <p14:creationId xmlns:p14="http://schemas.microsoft.com/office/powerpoint/2010/main" val="357597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C7C86-68EF-4B69-AED1-D0FBC3ED10E9}"/>
              </a:ext>
            </a:extLst>
          </p:cNvPr>
          <p:cNvSpPr>
            <a:spLocks noGrp="1"/>
          </p:cNvSpPr>
          <p:nvPr>
            <p:ph type="title"/>
          </p:nvPr>
        </p:nvSpPr>
        <p:spPr>
          <a:xfrm>
            <a:off x="0" y="192343"/>
            <a:ext cx="12192000" cy="1172755"/>
          </a:xfrm>
        </p:spPr>
        <p:txBody>
          <a:bodyPr>
            <a:normAutofit/>
          </a:bodyPr>
          <a:lstStyle/>
          <a:p>
            <a:pPr marL="0" indent="0" algn="ctr">
              <a:lnSpc>
                <a:spcPct val="110000"/>
              </a:lnSpc>
              <a:spcBef>
                <a:spcPct val="0"/>
              </a:spcBef>
              <a:buNone/>
            </a:pPr>
            <a:r>
              <a:rPr lang="en-IN" sz="4400" b="1" dirty="0">
                <a:solidFill>
                  <a:srgbClr val="002060"/>
                </a:solidFill>
                <a:latin typeface="Georgia" panose="02040502050405020303" pitchFamily="18" charset="0"/>
                <a:ea typeface="+mj-ea"/>
                <a:cs typeface="+mj-cs"/>
              </a:rPr>
              <a:t>System Implementation</a:t>
            </a:r>
          </a:p>
        </p:txBody>
      </p:sp>
      <p:sp>
        <p:nvSpPr>
          <p:cNvPr id="4" name="Date Placeholder 3">
            <a:extLst>
              <a:ext uri="{FF2B5EF4-FFF2-40B4-BE49-F238E27FC236}">
                <a16:creationId xmlns:a16="http://schemas.microsoft.com/office/drawing/2014/main" id="{78A9E1E1-7DB7-483B-8152-E9F02A669314}"/>
              </a:ext>
            </a:extLst>
          </p:cNvPr>
          <p:cNvSpPr>
            <a:spLocks noGrp="1"/>
          </p:cNvSpPr>
          <p:nvPr>
            <p:ph type="dt" sz="half" idx="10"/>
          </p:nvPr>
        </p:nvSpPr>
        <p:spPr>
          <a:xfrm>
            <a:off x="125818" y="6356351"/>
            <a:ext cx="1086293" cy="365124"/>
          </a:xfrm>
        </p:spPr>
        <p:txBody>
          <a:bodyPr/>
          <a:lstStyle/>
          <a:p>
            <a:fld id="{A58CC119-EF3E-4F4B-B4FC-48A3577E140C}" type="datetime1">
              <a:rPr lang="en-IN" smtClean="0">
                <a:latin typeface="Georgia" panose="02040502050405020303" pitchFamily="18" charset="0"/>
              </a:rPr>
              <a:t>14-11-2025</a:t>
            </a:fld>
            <a:endParaRPr lang="en-IN" dirty="0">
              <a:latin typeface="Georgia" panose="02040502050405020303" pitchFamily="18" charset="0"/>
            </a:endParaRPr>
          </a:p>
        </p:txBody>
      </p:sp>
      <p:sp>
        <p:nvSpPr>
          <p:cNvPr id="5" name="Footer Placeholder 4">
            <a:extLst>
              <a:ext uri="{FF2B5EF4-FFF2-40B4-BE49-F238E27FC236}">
                <a16:creationId xmlns:a16="http://schemas.microsoft.com/office/drawing/2014/main" id="{9AA86095-2EA8-44CE-9EDF-5A05AFE2E584}"/>
              </a:ext>
            </a:extLst>
          </p:cNvPr>
          <p:cNvSpPr>
            <a:spLocks noGrp="1"/>
          </p:cNvSpPr>
          <p:nvPr>
            <p:ph type="ftr" sz="quarter" idx="11"/>
          </p:nvPr>
        </p:nvSpPr>
        <p:spPr>
          <a:xfrm>
            <a:off x="1998921" y="6356351"/>
            <a:ext cx="8272129" cy="365124"/>
          </a:xfrm>
        </p:spPr>
        <p:txBody>
          <a:bodyPr/>
          <a:lstStyle/>
          <a:p>
            <a:r>
              <a:rPr lang="en-US" dirty="0">
                <a:latin typeface="Georgia" panose="02040502050405020303" pitchFamily="18" charset="0"/>
              </a:rPr>
              <a:t>Dept. of Electronics and Telecommunication </a:t>
            </a:r>
          </a:p>
          <a:p>
            <a:r>
              <a:rPr lang="en-US" dirty="0">
                <a:latin typeface="Georgia" panose="02040502050405020303" pitchFamily="18" charset="0"/>
              </a:rPr>
              <a:t>Hope Foundation’s International Institute of Information Technology, </a:t>
            </a:r>
            <a:r>
              <a:rPr lang="en-US" dirty="0" err="1">
                <a:latin typeface="Georgia" panose="02040502050405020303" pitchFamily="18" charset="0"/>
              </a:rPr>
              <a:t>Hinjawadi</a:t>
            </a:r>
            <a:r>
              <a:rPr lang="en-US" dirty="0">
                <a:latin typeface="Georgia" panose="02040502050405020303" pitchFamily="18" charset="0"/>
              </a:rPr>
              <a:t>, Pune</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C38BB812-B607-47EF-A780-9C9FB18F8571}"/>
              </a:ext>
            </a:extLst>
          </p:cNvPr>
          <p:cNvSpPr>
            <a:spLocks noGrp="1"/>
          </p:cNvSpPr>
          <p:nvPr>
            <p:ph type="sldNum" sz="quarter" idx="12"/>
          </p:nvPr>
        </p:nvSpPr>
        <p:spPr>
          <a:xfrm>
            <a:off x="11493795" y="6356352"/>
            <a:ext cx="487326" cy="365124"/>
          </a:xfrm>
        </p:spPr>
        <p:txBody>
          <a:bodyPr/>
          <a:lstStyle/>
          <a:p>
            <a:fld id="{1C31DEBF-AE20-4689-ADFF-879AF853B401}" type="slidenum">
              <a:rPr lang="en-IN" smtClean="0">
                <a:latin typeface="Georgia" panose="02040502050405020303" pitchFamily="18" charset="0"/>
              </a:rPr>
              <a:t>11</a:t>
            </a:fld>
            <a:endParaRPr lang="en-IN" dirty="0">
              <a:latin typeface="Georgia" panose="02040502050405020303" pitchFamily="18" charset="0"/>
            </a:endParaRPr>
          </a:p>
        </p:txBody>
      </p:sp>
      <p:sp>
        <p:nvSpPr>
          <p:cNvPr id="9" name="Content Placeholder 2">
            <a:extLst>
              <a:ext uri="{FF2B5EF4-FFF2-40B4-BE49-F238E27FC236}">
                <a16:creationId xmlns:a16="http://schemas.microsoft.com/office/drawing/2014/main" id="{5D835353-1A31-463F-B4DC-811725AFF11B}"/>
              </a:ext>
            </a:extLst>
          </p:cNvPr>
          <p:cNvSpPr txBox="1">
            <a:spLocks/>
          </p:cNvSpPr>
          <p:nvPr/>
        </p:nvSpPr>
        <p:spPr>
          <a:xfrm>
            <a:off x="253409" y="165714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ct val="0"/>
              </a:spcBef>
              <a:buNone/>
            </a:pPr>
            <a:endParaRPr lang="en-IN"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800" b="1" dirty="0">
              <a:solidFill>
                <a:srgbClr val="002060"/>
              </a:solidFill>
              <a:latin typeface="Georgia" panose="02040502050405020303" pitchFamily="18" charset="0"/>
              <a:ea typeface="+mj-ea"/>
              <a:cs typeface="+mj-cs"/>
            </a:endParaRPr>
          </a:p>
          <a:p>
            <a:pPr marL="0" indent="0">
              <a:buNone/>
            </a:pPr>
            <a:endParaRPr lang="en-US" sz="1400" dirty="0">
              <a:latin typeface="Georgia" panose="02040502050405020303" pitchFamily="18" charset="0"/>
            </a:endParaRPr>
          </a:p>
          <a:p>
            <a:endParaRPr lang="en-US" dirty="0">
              <a:latin typeface="Georgia" panose="02040502050405020303" pitchFamily="18" charset="0"/>
            </a:endParaRPr>
          </a:p>
        </p:txBody>
      </p:sp>
      <p:pic>
        <p:nvPicPr>
          <p:cNvPr id="7" name="Picture 6">
            <a:extLst>
              <a:ext uri="{FF2B5EF4-FFF2-40B4-BE49-F238E27FC236}">
                <a16:creationId xmlns:a16="http://schemas.microsoft.com/office/drawing/2014/main" id="{63A0033F-FF3B-EAE8-CAD4-A792BC49C8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371" y="1440638"/>
            <a:ext cx="9687485" cy="4075779"/>
          </a:xfrm>
          <a:prstGeom prst="rect">
            <a:avLst/>
          </a:prstGeom>
        </p:spPr>
      </p:pic>
      <p:pic>
        <p:nvPicPr>
          <p:cNvPr id="10" name="Picture 9"/>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spTree>
    <p:extLst>
      <p:ext uri="{BB962C8B-B14F-4D97-AF65-F5344CB8AC3E}">
        <p14:creationId xmlns:p14="http://schemas.microsoft.com/office/powerpoint/2010/main" val="1579157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C7C86-68EF-4B69-AED1-D0FBC3ED10E9}"/>
              </a:ext>
            </a:extLst>
          </p:cNvPr>
          <p:cNvSpPr>
            <a:spLocks noGrp="1"/>
          </p:cNvSpPr>
          <p:nvPr>
            <p:ph type="title"/>
          </p:nvPr>
        </p:nvSpPr>
        <p:spPr>
          <a:xfrm>
            <a:off x="0" y="192343"/>
            <a:ext cx="12192000" cy="1172755"/>
          </a:xfrm>
        </p:spPr>
        <p:txBody>
          <a:bodyPr>
            <a:normAutofit/>
          </a:bodyPr>
          <a:lstStyle/>
          <a:p>
            <a:pPr marL="0" indent="0" algn="ctr">
              <a:lnSpc>
                <a:spcPct val="110000"/>
              </a:lnSpc>
              <a:spcBef>
                <a:spcPct val="0"/>
              </a:spcBef>
              <a:buNone/>
            </a:pPr>
            <a:r>
              <a:rPr lang="en-IN" sz="4400" b="1" dirty="0">
                <a:solidFill>
                  <a:srgbClr val="002060"/>
                </a:solidFill>
                <a:latin typeface="Georgia" panose="02040502050405020303" pitchFamily="18" charset="0"/>
                <a:ea typeface="+mj-ea"/>
                <a:cs typeface="+mj-cs"/>
              </a:rPr>
              <a:t>Results and discussion</a:t>
            </a:r>
          </a:p>
        </p:txBody>
      </p:sp>
      <p:sp>
        <p:nvSpPr>
          <p:cNvPr id="4" name="Date Placeholder 3">
            <a:extLst>
              <a:ext uri="{FF2B5EF4-FFF2-40B4-BE49-F238E27FC236}">
                <a16:creationId xmlns:a16="http://schemas.microsoft.com/office/drawing/2014/main" id="{78A9E1E1-7DB7-483B-8152-E9F02A669314}"/>
              </a:ext>
            </a:extLst>
          </p:cNvPr>
          <p:cNvSpPr>
            <a:spLocks noGrp="1"/>
          </p:cNvSpPr>
          <p:nvPr>
            <p:ph type="dt" sz="half" idx="10"/>
          </p:nvPr>
        </p:nvSpPr>
        <p:spPr>
          <a:xfrm>
            <a:off x="125818" y="6356351"/>
            <a:ext cx="1086293" cy="365124"/>
          </a:xfrm>
        </p:spPr>
        <p:txBody>
          <a:bodyPr/>
          <a:lstStyle/>
          <a:p>
            <a:fld id="{A58CC119-EF3E-4F4B-B4FC-48A3577E140C}" type="datetime1">
              <a:rPr lang="en-IN" smtClean="0">
                <a:latin typeface="Georgia" panose="02040502050405020303" pitchFamily="18" charset="0"/>
              </a:rPr>
              <a:t>14-11-2025</a:t>
            </a:fld>
            <a:endParaRPr lang="en-IN" dirty="0">
              <a:latin typeface="Georgia" panose="02040502050405020303" pitchFamily="18" charset="0"/>
            </a:endParaRPr>
          </a:p>
        </p:txBody>
      </p:sp>
      <p:sp>
        <p:nvSpPr>
          <p:cNvPr id="5" name="Footer Placeholder 4">
            <a:extLst>
              <a:ext uri="{FF2B5EF4-FFF2-40B4-BE49-F238E27FC236}">
                <a16:creationId xmlns:a16="http://schemas.microsoft.com/office/drawing/2014/main" id="{9AA86095-2EA8-44CE-9EDF-5A05AFE2E584}"/>
              </a:ext>
            </a:extLst>
          </p:cNvPr>
          <p:cNvSpPr>
            <a:spLocks noGrp="1"/>
          </p:cNvSpPr>
          <p:nvPr>
            <p:ph type="ftr" sz="quarter" idx="11"/>
          </p:nvPr>
        </p:nvSpPr>
        <p:spPr>
          <a:xfrm>
            <a:off x="1998921" y="6356351"/>
            <a:ext cx="8272129" cy="365124"/>
          </a:xfrm>
        </p:spPr>
        <p:txBody>
          <a:bodyPr/>
          <a:lstStyle/>
          <a:p>
            <a:r>
              <a:rPr lang="en-US" dirty="0">
                <a:latin typeface="Georgia" panose="02040502050405020303" pitchFamily="18" charset="0"/>
              </a:rPr>
              <a:t>Dept. of Electronics and Telecommunication </a:t>
            </a:r>
          </a:p>
          <a:p>
            <a:r>
              <a:rPr lang="en-US" dirty="0">
                <a:latin typeface="Georgia" panose="02040502050405020303" pitchFamily="18" charset="0"/>
              </a:rPr>
              <a:t>Hope Foundation’s International Institute of Information Technology, </a:t>
            </a:r>
            <a:r>
              <a:rPr lang="en-US" dirty="0" err="1">
                <a:latin typeface="Georgia" panose="02040502050405020303" pitchFamily="18" charset="0"/>
              </a:rPr>
              <a:t>Hinjawadi</a:t>
            </a:r>
            <a:r>
              <a:rPr lang="en-US" dirty="0">
                <a:latin typeface="Georgia" panose="02040502050405020303" pitchFamily="18" charset="0"/>
              </a:rPr>
              <a:t>, Pune</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C38BB812-B607-47EF-A780-9C9FB18F8571}"/>
              </a:ext>
            </a:extLst>
          </p:cNvPr>
          <p:cNvSpPr>
            <a:spLocks noGrp="1"/>
          </p:cNvSpPr>
          <p:nvPr>
            <p:ph type="sldNum" sz="quarter" idx="12"/>
          </p:nvPr>
        </p:nvSpPr>
        <p:spPr>
          <a:xfrm>
            <a:off x="11493795" y="6356352"/>
            <a:ext cx="487326" cy="365124"/>
          </a:xfrm>
        </p:spPr>
        <p:txBody>
          <a:bodyPr/>
          <a:lstStyle/>
          <a:p>
            <a:fld id="{1C31DEBF-AE20-4689-ADFF-879AF853B401}" type="slidenum">
              <a:rPr lang="en-IN" smtClean="0">
                <a:latin typeface="Georgia" panose="02040502050405020303" pitchFamily="18" charset="0"/>
              </a:rPr>
              <a:t>12</a:t>
            </a:fld>
            <a:endParaRPr lang="en-IN" dirty="0">
              <a:latin typeface="Georgia" panose="02040502050405020303" pitchFamily="18" charset="0"/>
            </a:endParaRPr>
          </a:p>
        </p:txBody>
      </p:sp>
      <p:sp>
        <p:nvSpPr>
          <p:cNvPr id="9" name="Content Placeholder 2">
            <a:extLst>
              <a:ext uri="{FF2B5EF4-FFF2-40B4-BE49-F238E27FC236}">
                <a16:creationId xmlns:a16="http://schemas.microsoft.com/office/drawing/2014/main" id="{5D835353-1A31-463F-B4DC-811725AFF11B}"/>
              </a:ext>
            </a:extLst>
          </p:cNvPr>
          <p:cNvSpPr txBox="1">
            <a:spLocks/>
          </p:cNvSpPr>
          <p:nvPr/>
        </p:nvSpPr>
        <p:spPr>
          <a:xfrm>
            <a:off x="253409" y="165714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800" b="1" dirty="0">
              <a:solidFill>
                <a:srgbClr val="002060"/>
              </a:solidFill>
              <a:latin typeface="Georgia" panose="02040502050405020303" pitchFamily="18" charset="0"/>
              <a:ea typeface="+mj-ea"/>
              <a:cs typeface="+mj-cs"/>
            </a:endParaRPr>
          </a:p>
          <a:p>
            <a:pPr marL="0" indent="0">
              <a:buNone/>
            </a:pPr>
            <a:endParaRPr lang="en-US" sz="1400" dirty="0">
              <a:latin typeface="Georgia" panose="02040502050405020303" pitchFamily="18" charset="0"/>
            </a:endParaRPr>
          </a:p>
          <a:p>
            <a:endParaRPr lang="en-US" dirty="0">
              <a:latin typeface="Georgia" panose="02040502050405020303" pitchFamily="18" charset="0"/>
            </a:endParaRPr>
          </a:p>
        </p:txBody>
      </p:sp>
      <p:pic>
        <p:nvPicPr>
          <p:cNvPr id="10" name="Picture 9"/>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sp>
        <p:nvSpPr>
          <p:cNvPr id="7" name="TextBox 6">
            <a:extLst>
              <a:ext uri="{FF2B5EF4-FFF2-40B4-BE49-F238E27FC236}">
                <a16:creationId xmlns:a16="http://schemas.microsoft.com/office/drawing/2014/main" id="{F4A064ED-AF5B-FB61-B5E1-A928A67E550C}"/>
              </a:ext>
            </a:extLst>
          </p:cNvPr>
          <p:cNvSpPr txBox="1"/>
          <p:nvPr/>
        </p:nvSpPr>
        <p:spPr>
          <a:xfrm>
            <a:off x="323272" y="1251163"/>
            <a:ext cx="6648315" cy="5047536"/>
          </a:xfrm>
          <a:prstGeom prst="rect">
            <a:avLst/>
          </a:prstGeom>
          <a:noFill/>
        </p:spPr>
        <p:txBody>
          <a:bodyPr wrap="square" rtlCol="0">
            <a:spAutoFit/>
          </a:bodyPr>
          <a:lstStyle/>
          <a:p>
            <a:pPr marL="228600" indent="-228600">
              <a:buAutoNum type="arabicPeriod"/>
            </a:pPr>
            <a:r>
              <a:rPr lang="en-US" sz="1400" dirty="0">
                <a:latin typeface="Georgia" panose="02040502050405020303" pitchFamily="18" charset="0"/>
              </a:rPr>
              <a:t>Training &amp; Validation Accuracy</a:t>
            </a:r>
          </a:p>
          <a:p>
            <a:pPr marL="285750" indent="-285750">
              <a:buFont typeface="Arial" panose="020B0604020202020204" pitchFamily="34" charset="0"/>
              <a:buChar char="•"/>
            </a:pPr>
            <a:r>
              <a:rPr lang="en-US" sz="1400" dirty="0">
                <a:latin typeface="Georgia" panose="02040502050405020303" pitchFamily="18" charset="0"/>
              </a:rPr>
              <a:t>Training accuracy increases steadily from 0.25 to 0.42, indicating consistent learning.</a:t>
            </a:r>
          </a:p>
          <a:p>
            <a:pPr marL="285750" indent="-285750">
              <a:buFont typeface="Arial" panose="020B0604020202020204" pitchFamily="34" charset="0"/>
              <a:buChar char="•"/>
            </a:pPr>
            <a:r>
              <a:rPr lang="en-US" sz="1400" dirty="0">
                <a:latin typeface="Georgia" panose="02040502050405020303" pitchFamily="18" charset="0"/>
              </a:rPr>
              <a:t>Validation accuracy rises initially but fluctuates between 0.15–0.50, showing unstable generalization.</a:t>
            </a:r>
          </a:p>
          <a:p>
            <a:pPr marL="285750" indent="-285750">
              <a:buFont typeface="Arial" panose="020B0604020202020204" pitchFamily="34" charset="0"/>
              <a:buChar char="•"/>
            </a:pPr>
            <a:r>
              <a:rPr lang="en-US" sz="1400" dirty="0">
                <a:latin typeface="Georgia" panose="02040502050405020303" pitchFamily="18" charset="0"/>
              </a:rPr>
              <a:t>The gap and fluctuations suggest overfitting, where the model learns the training data more than unseen data.</a:t>
            </a:r>
          </a:p>
          <a:p>
            <a:pPr marL="228600" indent="-228600">
              <a:buAutoNum type="arabicPeriod"/>
            </a:pPr>
            <a:endParaRPr lang="en-US" sz="1400" dirty="0">
              <a:latin typeface="Georgia" panose="02040502050405020303" pitchFamily="18" charset="0"/>
            </a:endParaRPr>
          </a:p>
          <a:p>
            <a:r>
              <a:rPr lang="en-US" sz="1400" dirty="0">
                <a:latin typeface="Georgia" panose="02040502050405020303" pitchFamily="18" charset="0"/>
              </a:rPr>
              <a:t>2. Training &amp; Validation Loss</a:t>
            </a:r>
          </a:p>
          <a:p>
            <a:pPr marL="285750" indent="-285750">
              <a:buFont typeface="Arial" panose="020B0604020202020204" pitchFamily="34" charset="0"/>
              <a:buChar char="•"/>
            </a:pPr>
            <a:r>
              <a:rPr lang="en-US" sz="1400" dirty="0">
                <a:latin typeface="Georgia" panose="02040502050405020303" pitchFamily="18" charset="0"/>
              </a:rPr>
              <a:t>Training loss decreases smoothly from 3.6 to 2.2, showing reduced error on the training set.</a:t>
            </a:r>
          </a:p>
          <a:p>
            <a:pPr marL="285750" indent="-285750">
              <a:buFont typeface="Arial" panose="020B0604020202020204" pitchFamily="34" charset="0"/>
              <a:buChar char="•"/>
            </a:pPr>
            <a:r>
              <a:rPr lang="en-US" sz="1400" dirty="0">
                <a:latin typeface="Georgia" panose="02040502050405020303" pitchFamily="18" charset="0"/>
              </a:rPr>
              <a:t>Validation loss remains lower (~1.0–1.5) but fluctuates and begins rising at later epochs.</a:t>
            </a:r>
          </a:p>
          <a:p>
            <a:pPr marL="285750" indent="-285750">
              <a:buFont typeface="Arial" panose="020B0604020202020204" pitchFamily="34" charset="0"/>
              <a:buChar char="•"/>
            </a:pPr>
            <a:r>
              <a:rPr lang="en-US" sz="1400" dirty="0">
                <a:latin typeface="Georgia" panose="02040502050405020303" pitchFamily="18" charset="0"/>
              </a:rPr>
              <a:t>This inconsistent pattern again indicates overfitting and reduced model performance after certain epochs.</a:t>
            </a:r>
          </a:p>
          <a:p>
            <a:pPr marL="228600" indent="-228600">
              <a:buAutoNum type="arabicPeriod"/>
            </a:pPr>
            <a:endParaRPr lang="en-US" sz="1400" dirty="0">
              <a:latin typeface="Georgia" panose="02040502050405020303" pitchFamily="18" charset="0"/>
            </a:endParaRPr>
          </a:p>
          <a:p>
            <a:r>
              <a:rPr lang="en-US" sz="1400" dirty="0">
                <a:latin typeface="Georgia" panose="02040502050405020303" pitchFamily="18" charset="0"/>
              </a:rPr>
              <a:t>3. Confusion Matrix Interpretation</a:t>
            </a:r>
          </a:p>
          <a:p>
            <a:pPr marL="285750" indent="-285750">
              <a:buFont typeface="Arial" panose="020B0604020202020204" pitchFamily="34" charset="0"/>
              <a:buChar char="•"/>
            </a:pPr>
            <a:r>
              <a:rPr lang="en-US" sz="1400" dirty="0">
                <a:latin typeface="Georgia" panose="02040502050405020303" pitchFamily="18" charset="0"/>
              </a:rPr>
              <a:t>The model predicts the </a:t>
            </a:r>
            <a:r>
              <a:rPr lang="en-US" sz="1400" dirty="0" err="1">
                <a:latin typeface="Georgia" panose="02040502050405020303" pitchFamily="18" charset="0"/>
              </a:rPr>
              <a:t>NonDemented</a:t>
            </a:r>
            <a:r>
              <a:rPr lang="en-US" sz="1400" dirty="0">
                <a:latin typeface="Georgia" panose="02040502050405020303" pitchFamily="18" charset="0"/>
              </a:rPr>
              <a:t> class well (564 correct), showing a bias toward the majority </a:t>
            </a:r>
            <a:r>
              <a:rPr lang="en-US" sz="1400" dirty="0" err="1">
                <a:latin typeface="Georgia" panose="02040502050405020303" pitchFamily="18" charset="0"/>
              </a:rPr>
              <a:t>class.MildDemented</a:t>
            </a:r>
            <a:r>
              <a:rPr lang="en-US" sz="1400" dirty="0">
                <a:latin typeface="Georgia" panose="02040502050405020303" pitchFamily="18" charset="0"/>
              </a:rPr>
              <a:t>, </a:t>
            </a:r>
            <a:r>
              <a:rPr lang="en-US" sz="1400" dirty="0" err="1">
                <a:latin typeface="Georgia" panose="02040502050405020303" pitchFamily="18" charset="0"/>
              </a:rPr>
              <a:t>VeryMildDemented</a:t>
            </a:r>
            <a:r>
              <a:rPr lang="en-US" sz="1400" dirty="0">
                <a:latin typeface="Georgia" panose="02040502050405020303" pitchFamily="18" charset="0"/>
              </a:rPr>
              <a:t>, and </a:t>
            </a:r>
            <a:r>
              <a:rPr lang="en-US" sz="1400" dirty="0" err="1">
                <a:latin typeface="Georgia" panose="02040502050405020303" pitchFamily="18" charset="0"/>
              </a:rPr>
              <a:t>ModerateDemented</a:t>
            </a:r>
            <a:r>
              <a:rPr lang="en-US" sz="1400" dirty="0">
                <a:latin typeface="Georgia" panose="02040502050405020303" pitchFamily="18" charset="0"/>
              </a:rPr>
              <a:t> show high misclassification.</a:t>
            </a:r>
          </a:p>
          <a:p>
            <a:pPr marL="285750" indent="-285750">
              <a:buFont typeface="Arial" panose="020B0604020202020204" pitchFamily="34" charset="0"/>
              <a:buChar char="•"/>
            </a:pPr>
            <a:r>
              <a:rPr lang="en-US" sz="1400" dirty="0">
                <a:latin typeface="Georgia" panose="02040502050405020303" pitchFamily="18" charset="0"/>
              </a:rPr>
              <a:t>Many dementia cases get predicted as NonDemented:125 </a:t>
            </a:r>
            <a:r>
              <a:rPr lang="en-US" sz="1400" dirty="0" err="1">
                <a:latin typeface="Georgia" panose="02040502050405020303" pitchFamily="18" charset="0"/>
              </a:rPr>
              <a:t>MildDemented</a:t>
            </a:r>
            <a:r>
              <a:rPr lang="en-US" sz="1400" dirty="0">
                <a:latin typeface="Georgia" panose="02040502050405020303" pitchFamily="18" charset="0"/>
              </a:rPr>
              <a:t> → NonDemented394 </a:t>
            </a:r>
            <a:r>
              <a:rPr lang="en-US" sz="1400" dirty="0" err="1">
                <a:latin typeface="Georgia" panose="02040502050405020303" pitchFamily="18" charset="0"/>
              </a:rPr>
              <a:t>VeryMildDemented</a:t>
            </a:r>
            <a:r>
              <a:rPr lang="en-US" sz="1400" dirty="0">
                <a:latin typeface="Georgia" panose="02040502050405020303" pitchFamily="18" charset="0"/>
              </a:rPr>
              <a:t> → NonDemented12 </a:t>
            </a:r>
            <a:r>
              <a:rPr lang="en-US" sz="1400" dirty="0" err="1">
                <a:latin typeface="Georgia" panose="02040502050405020303" pitchFamily="18" charset="0"/>
              </a:rPr>
              <a:t>ModerateDemented</a:t>
            </a:r>
            <a:r>
              <a:rPr lang="en-US" sz="1400" dirty="0">
                <a:latin typeface="Georgia" panose="02040502050405020303" pitchFamily="18" charset="0"/>
              </a:rPr>
              <a:t> → </a:t>
            </a:r>
            <a:r>
              <a:rPr lang="en-US" sz="1400" dirty="0" err="1">
                <a:latin typeface="Georgia" panose="02040502050405020303" pitchFamily="18" charset="0"/>
              </a:rPr>
              <a:t>NonDemented</a:t>
            </a:r>
            <a:r>
              <a:rPr lang="en-US" sz="1400" dirty="0">
                <a:latin typeface="Georgia" panose="02040502050405020303" pitchFamily="18" charset="0"/>
              </a:rPr>
              <a:t>.</a:t>
            </a:r>
          </a:p>
        </p:txBody>
      </p:sp>
      <p:pic>
        <p:nvPicPr>
          <p:cNvPr id="11" name="Picture 10">
            <a:extLst>
              <a:ext uri="{FF2B5EF4-FFF2-40B4-BE49-F238E27FC236}">
                <a16:creationId xmlns:a16="http://schemas.microsoft.com/office/drawing/2014/main" id="{3D78D123-7170-7C41-987A-31D1F255DF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1588" y="1251163"/>
            <a:ext cx="4859844" cy="1929211"/>
          </a:xfrm>
          <a:prstGeom prst="rect">
            <a:avLst/>
          </a:prstGeom>
        </p:spPr>
      </p:pic>
      <p:pic>
        <p:nvPicPr>
          <p:cNvPr id="13" name="Picture 12">
            <a:extLst>
              <a:ext uri="{FF2B5EF4-FFF2-40B4-BE49-F238E27FC236}">
                <a16:creationId xmlns:a16="http://schemas.microsoft.com/office/drawing/2014/main" id="{3B059492-9521-1E0F-02AA-3619F30303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89155" y="3315933"/>
            <a:ext cx="3203340" cy="2982766"/>
          </a:xfrm>
          <a:prstGeom prst="rect">
            <a:avLst/>
          </a:prstGeom>
        </p:spPr>
      </p:pic>
    </p:spTree>
    <p:extLst>
      <p:ext uri="{BB962C8B-B14F-4D97-AF65-F5344CB8AC3E}">
        <p14:creationId xmlns:p14="http://schemas.microsoft.com/office/powerpoint/2010/main" val="3659247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C7C86-68EF-4B69-AED1-D0FBC3ED10E9}"/>
              </a:ext>
            </a:extLst>
          </p:cNvPr>
          <p:cNvSpPr>
            <a:spLocks noGrp="1"/>
          </p:cNvSpPr>
          <p:nvPr>
            <p:ph type="title"/>
          </p:nvPr>
        </p:nvSpPr>
        <p:spPr>
          <a:xfrm>
            <a:off x="0" y="192343"/>
            <a:ext cx="12192000" cy="1172755"/>
          </a:xfrm>
        </p:spPr>
        <p:txBody>
          <a:bodyPr>
            <a:normAutofit/>
          </a:bodyPr>
          <a:lstStyle/>
          <a:p>
            <a:pPr marL="0" indent="0" algn="ctr">
              <a:lnSpc>
                <a:spcPct val="110000"/>
              </a:lnSpc>
              <a:spcBef>
                <a:spcPct val="0"/>
              </a:spcBef>
              <a:buNone/>
            </a:pPr>
            <a:r>
              <a:rPr lang="en-IN" sz="4400" b="1" dirty="0">
                <a:solidFill>
                  <a:srgbClr val="002060"/>
                </a:solidFill>
                <a:latin typeface="Georgia" panose="02040502050405020303" pitchFamily="18" charset="0"/>
                <a:ea typeface="+mj-ea"/>
                <a:cs typeface="+mj-cs"/>
              </a:rPr>
              <a:t>Conclusions and Future Scope</a:t>
            </a:r>
          </a:p>
        </p:txBody>
      </p:sp>
      <p:sp>
        <p:nvSpPr>
          <p:cNvPr id="4" name="Date Placeholder 3">
            <a:extLst>
              <a:ext uri="{FF2B5EF4-FFF2-40B4-BE49-F238E27FC236}">
                <a16:creationId xmlns:a16="http://schemas.microsoft.com/office/drawing/2014/main" id="{78A9E1E1-7DB7-483B-8152-E9F02A669314}"/>
              </a:ext>
            </a:extLst>
          </p:cNvPr>
          <p:cNvSpPr>
            <a:spLocks noGrp="1"/>
          </p:cNvSpPr>
          <p:nvPr>
            <p:ph type="dt" sz="half" idx="10"/>
          </p:nvPr>
        </p:nvSpPr>
        <p:spPr>
          <a:xfrm>
            <a:off x="125818" y="6356351"/>
            <a:ext cx="1086293" cy="365124"/>
          </a:xfrm>
        </p:spPr>
        <p:txBody>
          <a:bodyPr/>
          <a:lstStyle/>
          <a:p>
            <a:fld id="{A58CC119-EF3E-4F4B-B4FC-48A3577E140C}" type="datetime1">
              <a:rPr lang="en-IN" smtClean="0">
                <a:latin typeface="Georgia" panose="02040502050405020303" pitchFamily="18" charset="0"/>
              </a:rPr>
              <a:t>14-11-2025</a:t>
            </a:fld>
            <a:endParaRPr lang="en-IN" dirty="0">
              <a:latin typeface="Georgia" panose="02040502050405020303" pitchFamily="18" charset="0"/>
            </a:endParaRPr>
          </a:p>
        </p:txBody>
      </p:sp>
      <p:sp>
        <p:nvSpPr>
          <p:cNvPr id="5" name="Footer Placeholder 4">
            <a:extLst>
              <a:ext uri="{FF2B5EF4-FFF2-40B4-BE49-F238E27FC236}">
                <a16:creationId xmlns:a16="http://schemas.microsoft.com/office/drawing/2014/main" id="{9AA86095-2EA8-44CE-9EDF-5A05AFE2E584}"/>
              </a:ext>
            </a:extLst>
          </p:cNvPr>
          <p:cNvSpPr>
            <a:spLocks noGrp="1"/>
          </p:cNvSpPr>
          <p:nvPr>
            <p:ph type="ftr" sz="quarter" idx="11"/>
          </p:nvPr>
        </p:nvSpPr>
        <p:spPr>
          <a:xfrm>
            <a:off x="1998921" y="6356351"/>
            <a:ext cx="8272129" cy="365124"/>
          </a:xfrm>
        </p:spPr>
        <p:txBody>
          <a:bodyPr/>
          <a:lstStyle/>
          <a:p>
            <a:r>
              <a:rPr lang="en-US" dirty="0">
                <a:latin typeface="Georgia" panose="02040502050405020303" pitchFamily="18" charset="0"/>
              </a:rPr>
              <a:t>Dept. of Electronics and Telecommunication </a:t>
            </a:r>
          </a:p>
          <a:p>
            <a:r>
              <a:rPr lang="en-US" dirty="0">
                <a:latin typeface="Georgia" panose="02040502050405020303" pitchFamily="18" charset="0"/>
              </a:rPr>
              <a:t>Hope Foundation’s International Institute of Information Technology, </a:t>
            </a:r>
            <a:r>
              <a:rPr lang="en-US" dirty="0" err="1">
                <a:latin typeface="Georgia" panose="02040502050405020303" pitchFamily="18" charset="0"/>
              </a:rPr>
              <a:t>Hinjawadi</a:t>
            </a:r>
            <a:r>
              <a:rPr lang="en-US" dirty="0">
                <a:latin typeface="Georgia" panose="02040502050405020303" pitchFamily="18" charset="0"/>
              </a:rPr>
              <a:t>, Pune</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C38BB812-B607-47EF-A780-9C9FB18F8571}"/>
              </a:ext>
            </a:extLst>
          </p:cNvPr>
          <p:cNvSpPr>
            <a:spLocks noGrp="1"/>
          </p:cNvSpPr>
          <p:nvPr>
            <p:ph type="sldNum" sz="quarter" idx="12"/>
          </p:nvPr>
        </p:nvSpPr>
        <p:spPr>
          <a:xfrm>
            <a:off x="11493795" y="6356352"/>
            <a:ext cx="487326" cy="365124"/>
          </a:xfrm>
        </p:spPr>
        <p:txBody>
          <a:bodyPr/>
          <a:lstStyle/>
          <a:p>
            <a:fld id="{1C31DEBF-AE20-4689-ADFF-879AF853B401}" type="slidenum">
              <a:rPr lang="en-IN" smtClean="0">
                <a:latin typeface="Georgia" panose="02040502050405020303" pitchFamily="18" charset="0"/>
              </a:rPr>
              <a:t>13</a:t>
            </a:fld>
            <a:endParaRPr lang="en-IN" dirty="0">
              <a:latin typeface="Georgia" panose="02040502050405020303" pitchFamily="18" charset="0"/>
            </a:endParaRPr>
          </a:p>
        </p:txBody>
      </p:sp>
      <p:sp>
        <p:nvSpPr>
          <p:cNvPr id="9" name="Content Placeholder 2">
            <a:extLst>
              <a:ext uri="{FF2B5EF4-FFF2-40B4-BE49-F238E27FC236}">
                <a16:creationId xmlns:a16="http://schemas.microsoft.com/office/drawing/2014/main" id="{5D835353-1A31-463F-B4DC-811725AFF11B}"/>
              </a:ext>
            </a:extLst>
          </p:cNvPr>
          <p:cNvSpPr txBox="1">
            <a:spLocks/>
          </p:cNvSpPr>
          <p:nvPr/>
        </p:nvSpPr>
        <p:spPr>
          <a:xfrm>
            <a:off x="253409" y="165714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ct val="0"/>
              </a:spcBef>
              <a:buNone/>
            </a:pPr>
            <a:r>
              <a:rPr lang="en-US" sz="1800" dirty="0">
                <a:latin typeface="Georgia" panose="02040502050405020303" pitchFamily="18" charset="0"/>
              </a:rPr>
              <a:t>Conclusion:</a:t>
            </a:r>
          </a:p>
          <a:p>
            <a:pPr marL="0" indent="0">
              <a:lnSpc>
                <a:spcPct val="110000"/>
              </a:lnSpc>
              <a:spcBef>
                <a:spcPct val="0"/>
              </a:spcBef>
              <a:buNone/>
            </a:pPr>
            <a:r>
              <a:rPr lang="en-US" sz="1800" dirty="0">
                <a:latin typeface="Georgia" panose="02040502050405020303" pitchFamily="18" charset="0"/>
              </a:rPr>
              <a:t>The proposed system for </a:t>
            </a:r>
            <a:r>
              <a:rPr lang="en-US" sz="1800" b="1" dirty="0">
                <a:latin typeface="Georgia" panose="02040502050405020303" pitchFamily="18" charset="0"/>
              </a:rPr>
              <a:t>early detection of Alzheimer’s disease using the </a:t>
            </a:r>
            <a:r>
              <a:rPr lang="en-US" sz="1800" b="1" dirty="0" err="1">
                <a:latin typeface="Georgia" panose="02040502050405020303" pitchFamily="18" charset="0"/>
              </a:rPr>
              <a:t>MobileNet</a:t>
            </a:r>
            <a:r>
              <a:rPr lang="en-US" sz="1800" b="1" dirty="0">
                <a:latin typeface="Georgia" panose="02040502050405020303" pitchFamily="18" charset="0"/>
              </a:rPr>
              <a:t> architecture</a:t>
            </a:r>
            <a:r>
              <a:rPr lang="en-US" sz="1800" dirty="0">
                <a:latin typeface="Georgia" panose="02040502050405020303" pitchFamily="18" charset="0"/>
              </a:rPr>
              <a:t> demonstrates that lightweight deep learning models can effectively classify different stages of Alzheimer’s with high accuracy and reduced computational cost. By employing preprocessing and data augmentation techniques, the model was able to enhance image quality, increase dataset variability, and minimize overfitting, resulting in improved prediction performance.</a:t>
            </a:r>
            <a:endParaRPr lang="en-IN" sz="18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r>
              <a:rPr lang="en-US" sz="2000" dirty="0">
                <a:latin typeface="Georgia" panose="02040502050405020303" pitchFamily="18" charset="0"/>
              </a:rPr>
              <a:t>Future Scope :</a:t>
            </a:r>
          </a:p>
          <a:p>
            <a:pPr marL="0" indent="0">
              <a:lnSpc>
                <a:spcPct val="110000"/>
              </a:lnSpc>
              <a:spcBef>
                <a:spcPct val="0"/>
              </a:spcBef>
              <a:buNone/>
            </a:pPr>
            <a:r>
              <a:rPr lang="en-US" sz="2000" dirty="0">
                <a:latin typeface="Georgia" panose="02040502050405020303" pitchFamily="18" charset="0"/>
              </a:rPr>
              <a:t>the proposed system can be further enhanced and expanded in several directions. In the future, the model can be trained on </a:t>
            </a:r>
            <a:r>
              <a:rPr lang="en-US" sz="2000" b="1" dirty="0">
                <a:latin typeface="Georgia" panose="02040502050405020303" pitchFamily="18" charset="0"/>
              </a:rPr>
              <a:t>larger and more diverse MRI datasets</a:t>
            </a:r>
            <a:r>
              <a:rPr lang="en-US" sz="2000" dirty="0">
                <a:latin typeface="Georgia" panose="02040502050405020303" pitchFamily="18" charset="0"/>
              </a:rPr>
              <a:t> to improve generalization and clinical reliability. The performance can be optimized further by integrating </a:t>
            </a:r>
            <a:r>
              <a:rPr lang="en-US" sz="2000" b="1" dirty="0">
                <a:latin typeface="Georgia" panose="02040502050405020303" pitchFamily="18" charset="0"/>
              </a:rPr>
              <a:t>multi-modal data</a:t>
            </a:r>
            <a:r>
              <a:rPr lang="en-US" sz="2000" dirty="0">
                <a:latin typeface="Georgia" panose="02040502050405020303" pitchFamily="18" charset="0"/>
              </a:rPr>
              <a:t> such as PET scans, cognitive scores, or genetic information to provide more comprehensive diagnostic insights.</a:t>
            </a:r>
            <a:endParaRPr lang="en-US" sz="2000" b="1" dirty="0">
              <a:solidFill>
                <a:srgbClr val="C00000"/>
              </a:solidFill>
              <a:latin typeface="Georgia" panose="02040502050405020303" pitchFamily="18" charset="0"/>
              <a:ea typeface="+mj-ea"/>
              <a:cs typeface="+mj-cs"/>
            </a:endParaRPr>
          </a:p>
          <a:p>
            <a:pPr marL="0" indent="0">
              <a:lnSpc>
                <a:spcPct val="110000"/>
              </a:lnSpc>
              <a:spcBef>
                <a:spcPct val="0"/>
              </a:spcBef>
              <a:buNone/>
            </a:pPr>
            <a:endParaRPr lang="en-US" sz="2800" b="1" dirty="0">
              <a:solidFill>
                <a:srgbClr val="002060"/>
              </a:solidFill>
              <a:latin typeface="Georgia" panose="02040502050405020303" pitchFamily="18" charset="0"/>
              <a:ea typeface="+mj-ea"/>
              <a:cs typeface="+mj-cs"/>
            </a:endParaRPr>
          </a:p>
          <a:p>
            <a:pPr marL="0" indent="0">
              <a:buNone/>
            </a:pPr>
            <a:endParaRPr lang="en-US" sz="1400" dirty="0">
              <a:latin typeface="Georgia" panose="02040502050405020303" pitchFamily="18" charset="0"/>
            </a:endParaRPr>
          </a:p>
          <a:p>
            <a:endParaRPr lang="en-US" dirty="0">
              <a:latin typeface="Georgia" panose="02040502050405020303" pitchFamily="18" charset="0"/>
            </a:endParaRPr>
          </a:p>
        </p:txBody>
      </p:sp>
      <p:pic>
        <p:nvPicPr>
          <p:cNvPr id="10" name="Picture 9"/>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spTree>
    <p:extLst>
      <p:ext uri="{BB962C8B-B14F-4D97-AF65-F5344CB8AC3E}">
        <p14:creationId xmlns:p14="http://schemas.microsoft.com/office/powerpoint/2010/main" val="1081748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C7C86-68EF-4B69-AED1-D0FBC3ED10E9}"/>
              </a:ext>
            </a:extLst>
          </p:cNvPr>
          <p:cNvSpPr>
            <a:spLocks noGrp="1"/>
          </p:cNvSpPr>
          <p:nvPr>
            <p:ph type="title"/>
          </p:nvPr>
        </p:nvSpPr>
        <p:spPr>
          <a:xfrm>
            <a:off x="0" y="192343"/>
            <a:ext cx="12192000" cy="1172755"/>
          </a:xfrm>
        </p:spPr>
        <p:txBody>
          <a:bodyPr>
            <a:normAutofit/>
          </a:bodyPr>
          <a:lstStyle/>
          <a:p>
            <a:pPr marL="0" indent="0" algn="ctr">
              <a:lnSpc>
                <a:spcPct val="110000"/>
              </a:lnSpc>
              <a:spcBef>
                <a:spcPct val="0"/>
              </a:spcBef>
              <a:buNone/>
            </a:pPr>
            <a:r>
              <a:rPr lang="en-IN" sz="4400" b="1" dirty="0">
                <a:solidFill>
                  <a:srgbClr val="002060"/>
                </a:solidFill>
                <a:latin typeface="Georgia" panose="02040502050405020303" pitchFamily="18" charset="0"/>
                <a:ea typeface="+mj-ea"/>
                <a:cs typeface="+mj-cs"/>
              </a:rPr>
              <a:t>References</a:t>
            </a:r>
            <a:endParaRPr lang="en-US" sz="4400" b="1" dirty="0">
              <a:solidFill>
                <a:srgbClr val="002060"/>
              </a:solidFill>
              <a:latin typeface="Georgia" panose="02040502050405020303" pitchFamily="18" charset="0"/>
              <a:ea typeface="+mj-ea"/>
              <a:cs typeface="+mj-cs"/>
            </a:endParaRPr>
          </a:p>
        </p:txBody>
      </p:sp>
      <p:sp>
        <p:nvSpPr>
          <p:cNvPr id="4" name="Date Placeholder 3">
            <a:extLst>
              <a:ext uri="{FF2B5EF4-FFF2-40B4-BE49-F238E27FC236}">
                <a16:creationId xmlns:a16="http://schemas.microsoft.com/office/drawing/2014/main" id="{78A9E1E1-7DB7-483B-8152-E9F02A669314}"/>
              </a:ext>
            </a:extLst>
          </p:cNvPr>
          <p:cNvSpPr>
            <a:spLocks noGrp="1"/>
          </p:cNvSpPr>
          <p:nvPr>
            <p:ph type="dt" sz="half" idx="10"/>
          </p:nvPr>
        </p:nvSpPr>
        <p:spPr>
          <a:xfrm>
            <a:off x="125818" y="6356351"/>
            <a:ext cx="1086293" cy="365124"/>
          </a:xfrm>
        </p:spPr>
        <p:txBody>
          <a:bodyPr/>
          <a:lstStyle/>
          <a:p>
            <a:fld id="{A58CC119-EF3E-4F4B-B4FC-48A3577E140C}" type="datetime1">
              <a:rPr lang="en-IN" smtClean="0">
                <a:latin typeface="Georgia" panose="02040502050405020303" pitchFamily="18" charset="0"/>
              </a:rPr>
              <a:t>14-11-2025</a:t>
            </a:fld>
            <a:endParaRPr lang="en-IN" dirty="0">
              <a:latin typeface="Georgia" panose="02040502050405020303" pitchFamily="18" charset="0"/>
            </a:endParaRPr>
          </a:p>
        </p:txBody>
      </p:sp>
      <p:sp>
        <p:nvSpPr>
          <p:cNvPr id="5" name="Footer Placeholder 4">
            <a:extLst>
              <a:ext uri="{FF2B5EF4-FFF2-40B4-BE49-F238E27FC236}">
                <a16:creationId xmlns:a16="http://schemas.microsoft.com/office/drawing/2014/main" id="{9AA86095-2EA8-44CE-9EDF-5A05AFE2E584}"/>
              </a:ext>
            </a:extLst>
          </p:cNvPr>
          <p:cNvSpPr>
            <a:spLocks noGrp="1"/>
          </p:cNvSpPr>
          <p:nvPr>
            <p:ph type="ftr" sz="quarter" idx="11"/>
          </p:nvPr>
        </p:nvSpPr>
        <p:spPr>
          <a:xfrm>
            <a:off x="1998921" y="6356351"/>
            <a:ext cx="8272129" cy="365124"/>
          </a:xfrm>
        </p:spPr>
        <p:txBody>
          <a:bodyPr/>
          <a:lstStyle/>
          <a:p>
            <a:r>
              <a:rPr lang="en-US" dirty="0">
                <a:latin typeface="Georgia" panose="02040502050405020303" pitchFamily="18" charset="0"/>
              </a:rPr>
              <a:t>Dept. of Electronics and Telecommunication </a:t>
            </a:r>
          </a:p>
          <a:p>
            <a:r>
              <a:rPr lang="en-US" dirty="0">
                <a:latin typeface="Georgia" panose="02040502050405020303" pitchFamily="18" charset="0"/>
              </a:rPr>
              <a:t>Hope Foundation’s International Institute of Information Technology, </a:t>
            </a:r>
            <a:r>
              <a:rPr lang="en-US" dirty="0" err="1">
                <a:latin typeface="Georgia" panose="02040502050405020303" pitchFamily="18" charset="0"/>
              </a:rPr>
              <a:t>Hinjawadi</a:t>
            </a:r>
            <a:r>
              <a:rPr lang="en-US" dirty="0">
                <a:latin typeface="Georgia" panose="02040502050405020303" pitchFamily="18" charset="0"/>
              </a:rPr>
              <a:t>, Pune</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C38BB812-B607-47EF-A780-9C9FB18F8571}"/>
              </a:ext>
            </a:extLst>
          </p:cNvPr>
          <p:cNvSpPr>
            <a:spLocks noGrp="1"/>
          </p:cNvSpPr>
          <p:nvPr>
            <p:ph type="sldNum" sz="quarter" idx="12"/>
          </p:nvPr>
        </p:nvSpPr>
        <p:spPr>
          <a:xfrm>
            <a:off x="11493795" y="6356352"/>
            <a:ext cx="487326" cy="365124"/>
          </a:xfrm>
        </p:spPr>
        <p:txBody>
          <a:bodyPr/>
          <a:lstStyle/>
          <a:p>
            <a:fld id="{1C31DEBF-AE20-4689-ADFF-879AF853B401}" type="slidenum">
              <a:rPr lang="en-IN" smtClean="0">
                <a:latin typeface="Georgia" panose="02040502050405020303" pitchFamily="18" charset="0"/>
              </a:rPr>
              <a:t>14</a:t>
            </a:fld>
            <a:endParaRPr lang="en-IN" dirty="0">
              <a:latin typeface="Georgia" panose="02040502050405020303" pitchFamily="18" charset="0"/>
            </a:endParaRPr>
          </a:p>
        </p:txBody>
      </p:sp>
      <p:sp>
        <p:nvSpPr>
          <p:cNvPr id="9" name="Content Placeholder 2">
            <a:extLst>
              <a:ext uri="{FF2B5EF4-FFF2-40B4-BE49-F238E27FC236}">
                <a16:creationId xmlns:a16="http://schemas.microsoft.com/office/drawing/2014/main" id="{5D835353-1A31-463F-B4DC-811725AFF11B}"/>
              </a:ext>
            </a:extLst>
          </p:cNvPr>
          <p:cNvSpPr txBox="1">
            <a:spLocks/>
          </p:cNvSpPr>
          <p:nvPr/>
        </p:nvSpPr>
        <p:spPr>
          <a:xfrm>
            <a:off x="253409" y="1657147"/>
            <a:ext cx="10515600" cy="43513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ct val="0"/>
              </a:spcBef>
              <a:buNone/>
            </a:pPr>
            <a:r>
              <a:rPr lang="en-IN" sz="2000" dirty="0"/>
              <a:t>1.T. Ghosh, M. I. A. Palash, M. A. Yousuf, M. A. Hamid, M. M. </a:t>
            </a:r>
            <a:r>
              <a:rPr lang="en-IN" sz="2000" dirty="0" err="1"/>
              <a:t>Monowar</a:t>
            </a:r>
            <a:r>
              <a:rPr lang="en-IN" sz="2000" dirty="0"/>
              <a:t>, and M. O. </a:t>
            </a:r>
            <a:r>
              <a:rPr lang="en-IN" sz="2000" dirty="0" err="1"/>
              <a:t>Alassafi</a:t>
            </a:r>
            <a:r>
              <a:rPr lang="en-IN" sz="2000" dirty="0"/>
              <a:t>,"A Robust Distributed Deep Learning Approach to Detect Alzheimer’s Disease from MRI </a:t>
            </a:r>
            <a:r>
              <a:rPr lang="en-IN" sz="2000" dirty="0" err="1"/>
              <a:t>Images,"Mathematics</a:t>
            </a:r>
            <a:r>
              <a:rPr lang="en-IN" sz="2000" dirty="0"/>
              <a:t>, vol. 11, no. 12, p. 2633, Jun. 2023, </a:t>
            </a:r>
            <a:r>
              <a:rPr lang="en-IN" sz="2000" dirty="0" err="1"/>
              <a:t>doi</a:t>
            </a:r>
            <a:r>
              <a:rPr lang="en-IN" sz="2000" dirty="0"/>
              <a:t>: 10.3390/math11122633 </a:t>
            </a:r>
          </a:p>
          <a:p>
            <a:pPr marL="0" indent="0">
              <a:lnSpc>
                <a:spcPct val="110000"/>
              </a:lnSpc>
              <a:spcBef>
                <a:spcPct val="0"/>
              </a:spcBef>
              <a:buNone/>
            </a:pPr>
            <a:endParaRPr lang="en-IN" sz="2000" dirty="0"/>
          </a:p>
          <a:p>
            <a:pPr marL="0" indent="0">
              <a:lnSpc>
                <a:spcPct val="110000"/>
              </a:lnSpc>
              <a:spcBef>
                <a:spcPct val="0"/>
              </a:spcBef>
              <a:buNone/>
            </a:pPr>
            <a:r>
              <a:rPr lang="en-IN" sz="2000" dirty="0"/>
              <a:t>2.D. Panchal, N. Kothari, D. Gada, P. Kanani, L. Kurup, D. Sankhe, and G. Pandya,"</a:t>
            </a:r>
            <a:r>
              <a:rPr lang="en-IN" sz="2000" dirty="0" err="1"/>
              <a:t>MobileNet</a:t>
            </a:r>
            <a:r>
              <a:rPr lang="en-IN" sz="2000" dirty="0"/>
              <a:t>-Based Transfer Learning Novel Approach for Improved Alzheimer’s Disease Classification from Brain </a:t>
            </a:r>
            <a:r>
              <a:rPr lang="en-IN" sz="2000" dirty="0" err="1"/>
              <a:t>Imaging,"International</a:t>
            </a:r>
            <a:r>
              <a:rPr lang="en-IN" sz="2000" dirty="0"/>
              <a:t> Journal of Intelligent Systems and Applications in Engineering (IJISAE), vol. 12, no. 3, pp. 2777–2783, 2024. </a:t>
            </a:r>
          </a:p>
          <a:p>
            <a:pPr marL="0" indent="0">
              <a:lnSpc>
                <a:spcPct val="110000"/>
              </a:lnSpc>
              <a:spcBef>
                <a:spcPct val="0"/>
              </a:spcBef>
              <a:buNone/>
            </a:pPr>
            <a:endParaRPr lang="en-IN" sz="2000" dirty="0"/>
          </a:p>
          <a:p>
            <a:pPr marL="0" indent="0">
              <a:lnSpc>
                <a:spcPct val="110000"/>
              </a:lnSpc>
              <a:spcBef>
                <a:spcPct val="0"/>
              </a:spcBef>
              <a:buNone/>
            </a:pPr>
            <a:r>
              <a:rPr lang="en-IN" sz="2000" dirty="0"/>
              <a:t>3.P. C. Wong, S. S. Abdullah, M. I. </a:t>
            </a:r>
            <a:r>
              <a:rPr lang="en-IN" sz="2000" dirty="0" err="1"/>
              <a:t>Shapiai</a:t>
            </a:r>
            <a:r>
              <a:rPr lang="en-IN" sz="2000" dirty="0"/>
              <a:t>, and A. K. M. M. </a:t>
            </a:r>
            <a:r>
              <a:rPr lang="en-IN" sz="2000" dirty="0" err="1"/>
              <a:t>Islam,"Transfer</a:t>
            </a:r>
            <a:r>
              <a:rPr lang="en-IN" sz="2000" dirty="0"/>
              <a:t> Learning for Alzheimer's Disease Diagnosis Using EfficientNet-B0 Convolutional Neural </a:t>
            </a:r>
            <a:r>
              <a:rPr lang="en-IN" sz="2000" dirty="0" err="1"/>
              <a:t>Network,"Journal</a:t>
            </a:r>
            <a:r>
              <a:rPr lang="en-IN" sz="2000" dirty="0"/>
              <a:t> of Advanced Research in Applied Sciences and Engineering Technology, vol. 35, no. 1, pp. 181–191, 2024. </a:t>
            </a:r>
          </a:p>
          <a:p>
            <a:pPr marL="0" indent="0">
              <a:lnSpc>
                <a:spcPct val="110000"/>
              </a:lnSpc>
              <a:spcBef>
                <a:spcPct val="0"/>
              </a:spcBef>
              <a:buNone/>
            </a:pPr>
            <a:endParaRPr lang="en-IN" sz="2000" dirty="0"/>
          </a:p>
          <a:p>
            <a:pPr marL="0" indent="0">
              <a:lnSpc>
                <a:spcPct val="110000"/>
              </a:lnSpc>
              <a:spcBef>
                <a:spcPct val="0"/>
              </a:spcBef>
              <a:buNone/>
            </a:pPr>
            <a:r>
              <a:rPr lang="en-IN" sz="2000" dirty="0"/>
              <a:t>4.T. Das, C. K. Nayak, and P. </a:t>
            </a:r>
            <a:r>
              <a:rPr lang="en-IN" sz="2000" dirty="0" err="1"/>
              <a:t>Pattnayak,"MRI</a:t>
            </a:r>
            <a:r>
              <a:rPr lang="en-IN" sz="2000" dirty="0"/>
              <a:t> Image-Based Advanced Transfer Learning and Machine Learning Architectures for Classifying Alzheimer’s </a:t>
            </a:r>
            <a:r>
              <a:rPr lang="en-IN" sz="2000" dirty="0" err="1"/>
              <a:t>Disease,"Proceedings</a:t>
            </a:r>
            <a:r>
              <a:rPr lang="en-IN" sz="2000" dirty="0"/>
              <a:t> of the Second International Conference on Intelligent Cyber Physical Systems and Internet of Things (</a:t>
            </a:r>
            <a:r>
              <a:rPr lang="en-IN" sz="2000" dirty="0" err="1"/>
              <a:t>ICoICI</a:t>
            </a:r>
            <a:r>
              <a:rPr lang="en-IN" sz="2000" dirty="0"/>
              <a:t> 2024), IEEE, 2024</a:t>
            </a:r>
          </a:p>
          <a:p>
            <a:pPr marL="0" indent="0">
              <a:lnSpc>
                <a:spcPct val="110000"/>
              </a:lnSpc>
              <a:spcBef>
                <a:spcPct val="0"/>
              </a:spcBef>
              <a:buNone/>
            </a:pPr>
            <a:endParaRPr lang="en-IN" sz="2000" dirty="0"/>
          </a:p>
          <a:p>
            <a:pPr marL="0" indent="0">
              <a:lnSpc>
                <a:spcPct val="110000"/>
              </a:lnSpc>
              <a:spcBef>
                <a:spcPct val="0"/>
              </a:spcBef>
              <a:buNone/>
            </a:pPr>
            <a:r>
              <a:rPr lang="en-IN" sz="2000" dirty="0"/>
              <a:t> 5.D. Panchal et al.,"</a:t>
            </a:r>
            <a:r>
              <a:rPr lang="en-IN" sz="2000" dirty="0" err="1"/>
              <a:t>MobileNet</a:t>
            </a:r>
            <a:r>
              <a:rPr lang="en-IN" sz="2000" dirty="0"/>
              <a:t>-Based Transfer Learning: A Novel Approach for Improved Alzheimer’s Disease Classification from Brain </a:t>
            </a:r>
            <a:r>
              <a:rPr lang="en-IN" sz="2000" dirty="0" err="1"/>
              <a:t>Imaging,"International</a:t>
            </a:r>
            <a:r>
              <a:rPr lang="en-IN" sz="2000" dirty="0"/>
              <a:t> Journal of Intelligent Systems and Applications in Engineering, vol. 12, no. 3, pp. 2777–2783, 2024.</a:t>
            </a: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000" b="1" i="1" dirty="0">
              <a:solidFill>
                <a:srgbClr val="C00000"/>
              </a:solidFill>
              <a:effectLst>
                <a:outerShdw blurRad="38100" dist="38100" dir="2700000" algn="tl">
                  <a:srgbClr val="000000">
                    <a:alpha val="43137"/>
                  </a:srgbClr>
                </a:outerShdw>
              </a:effectLst>
              <a:latin typeface="Georgia" panose="02040502050405020303" pitchFamily="18" charset="0"/>
              <a:ea typeface="+mj-ea"/>
              <a:cs typeface="+mj-cs"/>
            </a:endParaRPr>
          </a:p>
          <a:p>
            <a:pPr marL="0" indent="0">
              <a:lnSpc>
                <a:spcPct val="110000"/>
              </a:lnSpc>
              <a:spcBef>
                <a:spcPct val="0"/>
              </a:spcBef>
              <a:buNone/>
            </a:pPr>
            <a:endParaRPr lang="en-US" sz="2800" b="1" dirty="0">
              <a:solidFill>
                <a:srgbClr val="002060"/>
              </a:solidFill>
              <a:latin typeface="Georgia" panose="02040502050405020303" pitchFamily="18" charset="0"/>
              <a:ea typeface="+mj-ea"/>
              <a:cs typeface="+mj-cs"/>
            </a:endParaRPr>
          </a:p>
          <a:p>
            <a:pPr marL="0" indent="0">
              <a:buNone/>
            </a:pPr>
            <a:endParaRPr lang="en-US" sz="1400" dirty="0">
              <a:latin typeface="Georgia" panose="02040502050405020303" pitchFamily="18" charset="0"/>
            </a:endParaRPr>
          </a:p>
          <a:p>
            <a:endParaRPr lang="en-US" dirty="0">
              <a:latin typeface="Georgia" panose="02040502050405020303" pitchFamily="18" charset="0"/>
            </a:endParaRPr>
          </a:p>
        </p:txBody>
      </p:sp>
      <p:pic>
        <p:nvPicPr>
          <p:cNvPr id="10" name="Picture 9"/>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0" y="0"/>
            <a:ext cx="885371" cy="1148589"/>
          </a:xfrm>
          <a:prstGeom prst="rect">
            <a:avLst/>
          </a:prstGeom>
        </p:spPr>
      </p:pic>
    </p:spTree>
    <p:extLst>
      <p:ext uri="{BB962C8B-B14F-4D97-AF65-F5344CB8AC3E}">
        <p14:creationId xmlns:p14="http://schemas.microsoft.com/office/powerpoint/2010/main" val="4175319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889</TotalTime>
  <Words>1842</Words>
  <Application>Microsoft Office PowerPoint</Application>
  <PresentationFormat>Widescreen</PresentationFormat>
  <Paragraphs>189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Georgia</vt:lpstr>
      <vt:lpstr>Office Theme</vt:lpstr>
      <vt:lpstr>BE Project Phase I Presentation  Early Detection of Alzheimer’s Disease    Presented by  ANIRUDDH KAWLE (BEA29)  AAYUSH WALOKAR (BEA20)  SHITAL KARDILE (BEA24)  Guided by  Prof. SHWETA JAIN</vt:lpstr>
      <vt:lpstr>Outline</vt:lpstr>
      <vt:lpstr>Introduction</vt:lpstr>
      <vt:lpstr>Literature survey </vt:lpstr>
      <vt:lpstr>Gap Identification</vt:lpstr>
      <vt:lpstr>Problem statement and Objectives</vt:lpstr>
      <vt:lpstr>Proposed Methodology</vt:lpstr>
      <vt:lpstr>Proposed Requirement analysis</vt:lpstr>
      <vt:lpstr>Impact analysis</vt:lpstr>
      <vt:lpstr>Professional Ethical practices  to be followed</vt:lpstr>
      <vt:lpstr>System Implementation</vt:lpstr>
      <vt:lpstr>Results and discussion</vt:lpstr>
      <vt:lpstr>Conclusions and 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Full Project Name  Presented by  Name of Student(Roll No)  Name of Student(Roll No)  Name of Student(Roll No)  Guided by  Prof. Name of Guide</dc:title>
  <dc:creator>Varsha Degaonkar</dc:creator>
  <cp:lastModifiedBy>Anant Kawle</cp:lastModifiedBy>
  <cp:revision>49</cp:revision>
  <dcterms:created xsi:type="dcterms:W3CDTF">2021-04-22T12:21:23Z</dcterms:created>
  <dcterms:modified xsi:type="dcterms:W3CDTF">2025-11-14T04:54:19Z</dcterms:modified>
</cp:coreProperties>
</file>